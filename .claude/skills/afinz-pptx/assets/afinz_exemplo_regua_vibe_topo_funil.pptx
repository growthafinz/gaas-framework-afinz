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146847452" r:id="rId6"/>
    <p:sldId id="2146847453" r:id="rId7"/>
    <p:sldId id="2146847456" r:id="rId8"/>
    <p:sldId id="2146847455" r:id="rId9"/>
    <p:sldId id="2146847454" r:id="rId10"/>
    <p:sldId id="2146847457" r:id="rId11"/>
    <p:sldId id="2146847458" r:id="rId12"/>
    <p:sldId id="2146847459" r:id="rId13"/>
    <p:sldId id="2146847460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38E35A-6A6A-20C5-7DEA-4B86B7B7F86A}" name="Nathan Silva De Albuquerque" initials="NS" userId="S::nathan.albuquerque@afinz.com.br::b06f84a7-e91c-46a9-b72b-36524e442ae0" providerId="AD"/>
  <p188:author id="{2DCFD494-C913-3AF6-94CA-534D69F634F5}" name="Monica Jacobucci da Silva" initials="Md" userId="S::monica.jacobucci@afinz.com.br::989c23d4-f64e-4163-a142-129143d5710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lita de Rezende Curralo Queiroz" initials="TdRCQ" lastIdx="12" clrIdx="0">
    <p:extLst>
      <p:ext uri="{19B8F6BF-5375-455C-9EA6-DF929625EA0E}">
        <p15:presenceInfo xmlns:p15="http://schemas.microsoft.com/office/powerpoint/2012/main" userId="S::talita.queiroz@afinz.com.br::35340627-607f-4cee-a478-89359ac96ca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6CC"/>
    <a:srgbClr val="ECECEC"/>
    <a:srgbClr val="E74742"/>
    <a:srgbClr val="D3FF00"/>
    <a:srgbClr val="E7F3F4"/>
    <a:srgbClr val="E2E2E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6F983F-599A-4F8C-9874-75770B50D90D}" v="1" dt="2026-08-17T14:27:34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Estilo Médio 3 - 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32" y="2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74077B4-7657-A469-E89B-90B91500E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646B4C-76F1-048F-79E9-0408042976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099087-1DFE-4EC3-9271-4BBE00BA3A38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FEB61C4-2502-135D-D8EE-663B422812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107E0D-DE59-F0EA-72B8-5D63623CE2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D810D-6B05-4BEB-863A-0BFEEB70F3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0317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E09BA-98A5-4B84-85D7-E7EB4D6D9823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F30E7-B903-498D-9704-FCBFD6A06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266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png"/><Relationship Id="rId5" Type="http://schemas.openxmlformats.org/officeDocument/2006/relationships/image" Target="../media/image2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7.svg"/><Relationship Id="rId5" Type="http://schemas.openxmlformats.org/officeDocument/2006/relationships/image" Target="../media/image2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12.svg"/><Relationship Id="rId5" Type="http://schemas.openxmlformats.org/officeDocument/2006/relationships/image" Target="../media/image5.png"/><Relationship Id="rId4" Type="http://schemas.openxmlformats.org/officeDocument/2006/relationships/image" Target="../media/image11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2.svg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15.png"/><Relationship Id="rId5" Type="http://schemas.openxmlformats.org/officeDocument/2006/relationships/image" Target="../media/image11.svg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1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1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14.svg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31F0ED62-8B1F-801C-3802-5F9E6CF900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1"/>
            <a:ext cx="12192000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D4E2B53-847F-07CD-A2DB-0DD8EE487CE2}"/>
              </a:ext>
            </a:extLst>
          </p:cNvPr>
          <p:cNvSpPr/>
          <p:nvPr userDrawn="1"/>
        </p:nvSpPr>
        <p:spPr>
          <a:xfrm>
            <a:off x="0" y="3448359"/>
            <a:ext cx="12191998" cy="3429252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8F35BA6A-BE6B-BCDF-D31E-910C542F23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11159" y="4859254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8" name="Graphic 13">
            <a:extLst>
              <a:ext uri="{FF2B5EF4-FFF2-40B4-BE49-F238E27FC236}">
                <a16:creationId xmlns:a16="http://schemas.microsoft.com/office/drawing/2014/main" id="{3C7E5285-8E9A-3FA7-4BE6-A2F54D9F1F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5378" y="1576285"/>
            <a:ext cx="2676620" cy="3704925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E5D84C29-0136-3294-23AB-2965F05CDCAD}"/>
              </a:ext>
            </a:extLst>
          </p:cNvPr>
          <p:cNvGrpSpPr/>
          <p:nvPr userDrawn="1"/>
        </p:nvGrpSpPr>
        <p:grpSpPr>
          <a:xfrm>
            <a:off x="1007630" y="759987"/>
            <a:ext cx="2147681" cy="816298"/>
            <a:chOff x="1624314" y="1291232"/>
            <a:chExt cx="3923399" cy="1491219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70B6C894-2002-D2EA-8891-190B156DD32D}"/>
                </a:ext>
              </a:extLst>
            </p:cNvPr>
            <p:cNvSpPr/>
            <p:nvPr/>
          </p:nvSpPr>
          <p:spPr>
            <a:xfrm>
              <a:off x="1624314" y="1741960"/>
              <a:ext cx="932011" cy="1040491"/>
            </a:xfrm>
            <a:custGeom>
              <a:avLst/>
              <a:gdLst>
                <a:gd name="connsiteX0" fmla="*/ 932012 w 932011"/>
                <a:gd name="connsiteY0" fmla="*/ 780323 h 1040491"/>
                <a:gd name="connsiteX1" fmla="*/ 932012 w 932011"/>
                <a:gd name="connsiteY1" fmla="*/ 1005688 h 1040491"/>
                <a:gd name="connsiteX2" fmla="*/ 772277 w 932011"/>
                <a:gd name="connsiteY2" fmla="*/ 1028197 h 1040491"/>
                <a:gd name="connsiteX3" fmla="*/ 575660 w 932011"/>
                <a:gd name="connsiteY3" fmla="*/ 956511 h 1040491"/>
                <a:gd name="connsiteX4" fmla="*/ 315492 w 932011"/>
                <a:gd name="connsiteY4" fmla="*/ 1040492 h 1040491"/>
                <a:gd name="connsiteX5" fmla="*/ 0 w 932011"/>
                <a:gd name="connsiteY5" fmla="*/ 731237 h 1040491"/>
                <a:gd name="connsiteX6" fmla="*/ 366658 w 932011"/>
                <a:gd name="connsiteY6" fmla="*/ 419903 h 1040491"/>
                <a:gd name="connsiteX7" fmla="*/ 514098 w 932011"/>
                <a:gd name="connsiteY7" fmla="*/ 438344 h 1040491"/>
                <a:gd name="connsiteX8" fmla="*/ 514098 w 932011"/>
                <a:gd name="connsiteY8" fmla="*/ 395314 h 1040491"/>
                <a:gd name="connsiteX9" fmla="*/ 362499 w 932011"/>
                <a:gd name="connsiteY9" fmla="*/ 276530 h 1040491"/>
                <a:gd name="connsiteX10" fmla="*/ 61381 w 932011"/>
                <a:gd name="connsiteY10" fmla="*/ 335922 h 1040491"/>
                <a:gd name="connsiteX11" fmla="*/ 61381 w 932011"/>
                <a:gd name="connsiteY11" fmla="*/ 59392 h 1040491"/>
                <a:gd name="connsiteX12" fmla="*/ 397303 w 932011"/>
                <a:gd name="connsiteY12" fmla="*/ 0 h 1040491"/>
                <a:gd name="connsiteX13" fmla="*/ 843873 w 932011"/>
                <a:gd name="connsiteY13" fmla="*/ 415835 h 1040491"/>
                <a:gd name="connsiteX14" fmla="*/ 843873 w 932011"/>
                <a:gd name="connsiteY14" fmla="*/ 723101 h 1040491"/>
                <a:gd name="connsiteX15" fmla="*/ 899197 w 932011"/>
                <a:gd name="connsiteY15" fmla="*/ 784572 h 1040491"/>
                <a:gd name="connsiteX16" fmla="*/ 931921 w 932011"/>
                <a:gd name="connsiteY16" fmla="*/ 780504 h 1040491"/>
                <a:gd name="connsiteX17" fmla="*/ 514098 w 932011"/>
                <a:gd name="connsiteY17" fmla="*/ 792798 h 1040491"/>
                <a:gd name="connsiteX18" fmla="*/ 514098 w 932011"/>
                <a:gd name="connsiteY18" fmla="*/ 622758 h 1040491"/>
                <a:gd name="connsiteX19" fmla="*/ 442412 w 932011"/>
                <a:gd name="connsiteY19" fmla="*/ 612543 h 1040491"/>
                <a:gd name="connsiteX20" fmla="*/ 319560 w 932011"/>
                <a:gd name="connsiteY20" fmla="*/ 725180 h 1040491"/>
                <a:gd name="connsiteX21" fmla="*/ 411767 w 932011"/>
                <a:gd name="connsiteY21" fmla="*/ 829681 h 1040491"/>
                <a:gd name="connsiteX22" fmla="*/ 514189 w 932011"/>
                <a:gd name="connsiteY22" fmla="*/ 792798 h 104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2011" h="1040491">
                  <a:moveTo>
                    <a:pt x="932012" y="780323"/>
                  </a:moveTo>
                  <a:lnTo>
                    <a:pt x="932012" y="1005688"/>
                  </a:lnTo>
                  <a:cubicBezTo>
                    <a:pt x="880756" y="1020061"/>
                    <a:pt x="833658" y="1028197"/>
                    <a:pt x="772277" y="1028197"/>
                  </a:cubicBezTo>
                  <a:cubicBezTo>
                    <a:pt x="692365" y="1028197"/>
                    <a:pt x="620678" y="1005688"/>
                    <a:pt x="575660" y="956511"/>
                  </a:cubicBezTo>
                  <a:cubicBezTo>
                    <a:pt x="503973" y="1015903"/>
                    <a:pt x="413846" y="1040492"/>
                    <a:pt x="315492" y="1040492"/>
                  </a:cubicBezTo>
                  <a:cubicBezTo>
                    <a:pt x="147531" y="1040492"/>
                    <a:pt x="0" y="942137"/>
                    <a:pt x="0" y="731237"/>
                  </a:cubicBezTo>
                  <a:cubicBezTo>
                    <a:pt x="0" y="520336"/>
                    <a:pt x="149520" y="419903"/>
                    <a:pt x="366658" y="419903"/>
                  </a:cubicBezTo>
                  <a:cubicBezTo>
                    <a:pt x="417823" y="419903"/>
                    <a:pt x="456785" y="423971"/>
                    <a:pt x="514098" y="438344"/>
                  </a:cubicBezTo>
                  <a:lnTo>
                    <a:pt x="514098" y="395314"/>
                  </a:lnTo>
                  <a:cubicBezTo>
                    <a:pt x="514098" y="323628"/>
                    <a:pt x="475136" y="276530"/>
                    <a:pt x="362499" y="276530"/>
                  </a:cubicBezTo>
                  <a:cubicBezTo>
                    <a:pt x="256009" y="276530"/>
                    <a:pt x="143373" y="303198"/>
                    <a:pt x="61381" y="335922"/>
                  </a:cubicBezTo>
                  <a:lnTo>
                    <a:pt x="61381" y="59392"/>
                  </a:lnTo>
                  <a:cubicBezTo>
                    <a:pt x="161724" y="24589"/>
                    <a:pt x="292802" y="0"/>
                    <a:pt x="397303" y="0"/>
                  </a:cubicBezTo>
                  <a:cubicBezTo>
                    <a:pt x="673833" y="0"/>
                    <a:pt x="843873" y="102422"/>
                    <a:pt x="843873" y="415835"/>
                  </a:cubicBezTo>
                  <a:lnTo>
                    <a:pt x="843873" y="723101"/>
                  </a:lnTo>
                  <a:cubicBezTo>
                    <a:pt x="843873" y="768210"/>
                    <a:pt x="864394" y="784572"/>
                    <a:pt x="899197" y="784572"/>
                  </a:cubicBezTo>
                  <a:cubicBezTo>
                    <a:pt x="909412" y="784572"/>
                    <a:pt x="921706" y="782493"/>
                    <a:pt x="931921" y="780504"/>
                  </a:cubicBezTo>
                  <a:moveTo>
                    <a:pt x="514098" y="792798"/>
                  </a:moveTo>
                  <a:lnTo>
                    <a:pt x="514098" y="622758"/>
                  </a:lnTo>
                  <a:cubicBezTo>
                    <a:pt x="489510" y="616611"/>
                    <a:pt x="468989" y="612543"/>
                    <a:pt x="442412" y="612543"/>
                  </a:cubicBezTo>
                  <a:cubicBezTo>
                    <a:pt x="366658" y="612543"/>
                    <a:pt x="319560" y="643279"/>
                    <a:pt x="319560" y="725180"/>
                  </a:cubicBezTo>
                  <a:cubicBezTo>
                    <a:pt x="319560" y="800934"/>
                    <a:pt x="362590" y="829681"/>
                    <a:pt x="411767" y="829681"/>
                  </a:cubicBezTo>
                  <a:cubicBezTo>
                    <a:pt x="454797" y="829681"/>
                    <a:pt x="485532" y="819466"/>
                    <a:pt x="514189" y="792798"/>
                  </a:cubicBezTo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7D593644-4FAD-AFB7-47D6-433533C20C52}"/>
                </a:ext>
              </a:extLst>
            </p:cNvPr>
            <p:cNvSpPr/>
            <p:nvPr/>
          </p:nvSpPr>
          <p:spPr>
            <a:xfrm>
              <a:off x="2562201" y="1291232"/>
              <a:ext cx="680070" cy="1462473"/>
            </a:xfrm>
            <a:custGeom>
              <a:avLst/>
              <a:gdLst>
                <a:gd name="connsiteX0" fmla="*/ 120863 w 680070"/>
                <a:gd name="connsiteY0" fmla="*/ 768120 h 1462473"/>
                <a:gd name="connsiteX1" fmla="*/ 0 w 680070"/>
                <a:gd name="connsiteY1" fmla="*/ 768120 h 1462473"/>
                <a:gd name="connsiteX2" fmla="*/ 0 w 680070"/>
                <a:gd name="connsiteY2" fmla="*/ 479295 h 1462473"/>
                <a:gd name="connsiteX3" fmla="*/ 120863 w 680070"/>
                <a:gd name="connsiteY3" fmla="*/ 479295 h 1462473"/>
                <a:gd name="connsiteX4" fmla="*/ 120863 w 680070"/>
                <a:gd name="connsiteY4" fmla="*/ 370726 h 1462473"/>
                <a:gd name="connsiteX5" fmla="*/ 487521 w 680070"/>
                <a:gd name="connsiteY5" fmla="*/ 0 h 1462473"/>
                <a:gd name="connsiteX6" fmla="*/ 680070 w 680070"/>
                <a:gd name="connsiteY6" fmla="*/ 34804 h 1462473"/>
                <a:gd name="connsiteX7" fmla="*/ 680070 w 680070"/>
                <a:gd name="connsiteY7" fmla="*/ 307266 h 1462473"/>
                <a:gd name="connsiteX8" fmla="*/ 577648 w 680070"/>
                <a:gd name="connsiteY8" fmla="*/ 288825 h 1462473"/>
                <a:gd name="connsiteX9" fmla="*/ 456785 w 680070"/>
                <a:gd name="connsiteY9" fmla="*/ 391246 h 1462473"/>
                <a:gd name="connsiteX10" fmla="*/ 456785 w 680070"/>
                <a:gd name="connsiteY10" fmla="*/ 479295 h 1462473"/>
                <a:gd name="connsiteX11" fmla="*/ 639120 w 680070"/>
                <a:gd name="connsiteY11" fmla="*/ 479295 h 1462473"/>
                <a:gd name="connsiteX12" fmla="*/ 639120 w 680070"/>
                <a:gd name="connsiteY12" fmla="*/ 768120 h 1462473"/>
                <a:gd name="connsiteX13" fmla="*/ 456785 w 680070"/>
                <a:gd name="connsiteY13" fmla="*/ 768120 h 1462473"/>
                <a:gd name="connsiteX14" fmla="*/ 456785 w 680070"/>
                <a:gd name="connsiteY14" fmla="*/ 1462474 h 1462473"/>
                <a:gd name="connsiteX15" fmla="*/ 120863 w 680070"/>
                <a:gd name="connsiteY15" fmla="*/ 1462474 h 1462473"/>
                <a:gd name="connsiteX16" fmla="*/ 120863 w 680070"/>
                <a:gd name="connsiteY16" fmla="*/ 768120 h 146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0070" h="1462473">
                  <a:moveTo>
                    <a:pt x="120863" y="768120"/>
                  </a:moveTo>
                  <a:lnTo>
                    <a:pt x="0" y="768120"/>
                  </a:lnTo>
                  <a:lnTo>
                    <a:pt x="0" y="479295"/>
                  </a:lnTo>
                  <a:lnTo>
                    <a:pt x="120863" y="479295"/>
                  </a:lnTo>
                  <a:lnTo>
                    <a:pt x="120863" y="370726"/>
                  </a:lnTo>
                  <a:cubicBezTo>
                    <a:pt x="120863" y="81901"/>
                    <a:pt x="315402" y="0"/>
                    <a:pt x="487521" y="0"/>
                  </a:cubicBezTo>
                  <a:cubicBezTo>
                    <a:pt x="565354" y="0"/>
                    <a:pt x="620678" y="10215"/>
                    <a:pt x="680070" y="34804"/>
                  </a:cubicBezTo>
                  <a:lnTo>
                    <a:pt x="680070" y="307266"/>
                  </a:lnTo>
                  <a:cubicBezTo>
                    <a:pt x="649335" y="294972"/>
                    <a:pt x="612452" y="288825"/>
                    <a:pt x="577648" y="288825"/>
                  </a:cubicBezTo>
                  <a:cubicBezTo>
                    <a:pt x="505962" y="288825"/>
                    <a:pt x="456785" y="319560"/>
                    <a:pt x="456785" y="391246"/>
                  </a:cubicBezTo>
                  <a:lnTo>
                    <a:pt x="456785" y="479295"/>
                  </a:lnTo>
                  <a:lnTo>
                    <a:pt x="639120" y="479295"/>
                  </a:lnTo>
                  <a:lnTo>
                    <a:pt x="639120" y="768120"/>
                  </a:lnTo>
                  <a:lnTo>
                    <a:pt x="456785" y="768120"/>
                  </a:lnTo>
                  <a:lnTo>
                    <a:pt x="456785" y="1462474"/>
                  </a:lnTo>
                  <a:lnTo>
                    <a:pt x="120863" y="1462474"/>
                  </a:lnTo>
                  <a:lnTo>
                    <a:pt x="120863" y="768120"/>
                  </a:lnTo>
                  <a:close/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5AD4CB92-87D8-E2C3-0FF2-7DFC04D3DE96}"/>
                </a:ext>
              </a:extLst>
            </p:cNvPr>
            <p:cNvSpPr/>
            <p:nvPr/>
          </p:nvSpPr>
          <p:spPr>
            <a:xfrm>
              <a:off x="3324173" y="1318713"/>
              <a:ext cx="340442" cy="327515"/>
            </a:xfrm>
            <a:custGeom>
              <a:avLst/>
              <a:gdLst>
                <a:gd name="connsiteX0" fmla="*/ 0 w 340442"/>
                <a:gd name="connsiteY0" fmla="*/ 161904 h 327515"/>
                <a:gd name="connsiteX1" fmla="*/ 171125 w 340442"/>
                <a:gd name="connsiteY1" fmla="*/ 0 h 327515"/>
                <a:gd name="connsiteX2" fmla="*/ 340442 w 340442"/>
                <a:gd name="connsiteY2" fmla="*/ 161904 h 327515"/>
                <a:gd name="connsiteX3" fmla="*/ 171125 w 340442"/>
                <a:gd name="connsiteY3" fmla="*/ 327515 h 327515"/>
                <a:gd name="connsiteX4" fmla="*/ 0 w 340442"/>
                <a:gd name="connsiteY4" fmla="*/ 161904 h 327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0442" h="327515">
                  <a:moveTo>
                    <a:pt x="0" y="161904"/>
                  </a:moveTo>
                  <a:cubicBezTo>
                    <a:pt x="0" y="47821"/>
                    <a:pt x="80997" y="0"/>
                    <a:pt x="171125" y="0"/>
                  </a:cubicBezTo>
                  <a:cubicBezTo>
                    <a:pt x="261253" y="0"/>
                    <a:pt x="340442" y="47821"/>
                    <a:pt x="340442" y="161904"/>
                  </a:cubicBezTo>
                  <a:cubicBezTo>
                    <a:pt x="340442" y="275988"/>
                    <a:pt x="261343" y="327515"/>
                    <a:pt x="171125" y="327515"/>
                  </a:cubicBezTo>
                  <a:cubicBezTo>
                    <a:pt x="80907" y="327515"/>
                    <a:pt x="0" y="275988"/>
                    <a:pt x="0" y="161904"/>
                  </a:cubicBezTo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4A94ED23-7F2A-8B1D-EDCD-795E640856F5}"/>
                </a:ext>
              </a:extLst>
            </p:cNvPr>
            <p:cNvSpPr/>
            <p:nvPr/>
          </p:nvSpPr>
          <p:spPr>
            <a:xfrm>
              <a:off x="3327427" y="1770527"/>
              <a:ext cx="335922" cy="983178"/>
            </a:xfrm>
            <a:custGeom>
              <a:avLst/>
              <a:gdLst>
                <a:gd name="connsiteX0" fmla="*/ 0 w 335922"/>
                <a:gd name="connsiteY0" fmla="*/ 0 h 983178"/>
                <a:gd name="connsiteX1" fmla="*/ 335922 w 335922"/>
                <a:gd name="connsiteY1" fmla="*/ 0 h 983178"/>
                <a:gd name="connsiteX2" fmla="*/ 335922 w 335922"/>
                <a:gd name="connsiteY2" fmla="*/ 983179 h 983178"/>
                <a:gd name="connsiteX3" fmla="*/ 0 w 335922"/>
                <a:gd name="connsiteY3" fmla="*/ 983179 h 98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922" h="983178">
                  <a:moveTo>
                    <a:pt x="0" y="0"/>
                  </a:moveTo>
                  <a:lnTo>
                    <a:pt x="335922" y="0"/>
                  </a:lnTo>
                  <a:lnTo>
                    <a:pt x="335922" y="983179"/>
                  </a:lnTo>
                  <a:lnTo>
                    <a:pt x="0" y="983179"/>
                  </a:lnTo>
                  <a:close/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F7C8711-8A6F-C886-C868-07B382DED56E}"/>
                </a:ext>
              </a:extLst>
            </p:cNvPr>
            <p:cNvSpPr/>
            <p:nvPr/>
          </p:nvSpPr>
          <p:spPr>
            <a:xfrm>
              <a:off x="3822994" y="1741780"/>
              <a:ext cx="860325" cy="1011925"/>
            </a:xfrm>
            <a:custGeom>
              <a:avLst/>
              <a:gdLst>
                <a:gd name="connsiteX0" fmla="*/ 90 w 860325"/>
                <a:gd name="connsiteY0" fmla="*/ 28747 h 1011925"/>
                <a:gd name="connsiteX1" fmla="*/ 303198 w 860325"/>
                <a:gd name="connsiteY1" fmla="*/ 28747 h 1011925"/>
                <a:gd name="connsiteX2" fmla="*/ 303198 w 860325"/>
                <a:gd name="connsiteY2" fmla="*/ 116795 h 1011925"/>
                <a:gd name="connsiteX3" fmla="*/ 565354 w 860325"/>
                <a:gd name="connsiteY3" fmla="*/ 0 h 1011925"/>
                <a:gd name="connsiteX4" fmla="*/ 860326 w 860325"/>
                <a:gd name="connsiteY4" fmla="*/ 307266 h 1011925"/>
                <a:gd name="connsiteX5" fmla="*/ 860326 w 860325"/>
                <a:gd name="connsiteY5" fmla="*/ 1011925 h 1011925"/>
                <a:gd name="connsiteX6" fmla="*/ 524404 w 860325"/>
                <a:gd name="connsiteY6" fmla="*/ 1011925 h 1011925"/>
                <a:gd name="connsiteX7" fmla="*/ 524404 w 860325"/>
                <a:gd name="connsiteY7" fmla="*/ 391337 h 1011925"/>
                <a:gd name="connsiteX8" fmla="*/ 446570 w 860325"/>
                <a:gd name="connsiteY8" fmla="*/ 311424 h 1011925"/>
                <a:gd name="connsiteX9" fmla="*/ 335922 w 860325"/>
                <a:gd name="connsiteY9" fmla="*/ 381031 h 1011925"/>
                <a:gd name="connsiteX10" fmla="*/ 335922 w 860325"/>
                <a:gd name="connsiteY10" fmla="*/ 1011925 h 1011925"/>
                <a:gd name="connsiteX11" fmla="*/ 0 w 860325"/>
                <a:gd name="connsiteY11" fmla="*/ 1011925 h 1011925"/>
                <a:gd name="connsiteX12" fmla="*/ 0 w 860325"/>
                <a:gd name="connsiteY12" fmla="*/ 28747 h 101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0325" h="1011925">
                  <a:moveTo>
                    <a:pt x="90" y="28747"/>
                  </a:moveTo>
                  <a:lnTo>
                    <a:pt x="303198" y="28747"/>
                  </a:lnTo>
                  <a:lnTo>
                    <a:pt x="303198" y="116795"/>
                  </a:lnTo>
                  <a:cubicBezTo>
                    <a:pt x="360511" y="49177"/>
                    <a:pt x="442502" y="0"/>
                    <a:pt x="565354" y="0"/>
                  </a:cubicBezTo>
                  <a:cubicBezTo>
                    <a:pt x="710806" y="0"/>
                    <a:pt x="860326" y="102422"/>
                    <a:pt x="860326" y="307266"/>
                  </a:cubicBezTo>
                  <a:lnTo>
                    <a:pt x="860326" y="1011925"/>
                  </a:lnTo>
                  <a:lnTo>
                    <a:pt x="524404" y="1011925"/>
                  </a:lnTo>
                  <a:lnTo>
                    <a:pt x="524404" y="391337"/>
                  </a:lnTo>
                  <a:cubicBezTo>
                    <a:pt x="524404" y="336013"/>
                    <a:pt x="495747" y="311424"/>
                    <a:pt x="446570" y="311424"/>
                  </a:cubicBezTo>
                  <a:cubicBezTo>
                    <a:pt x="397393" y="311424"/>
                    <a:pt x="360511" y="342160"/>
                    <a:pt x="335922" y="381031"/>
                  </a:cubicBezTo>
                  <a:lnTo>
                    <a:pt x="335922" y="1011925"/>
                  </a:lnTo>
                  <a:lnTo>
                    <a:pt x="0" y="1011925"/>
                  </a:lnTo>
                  <a:lnTo>
                    <a:pt x="0" y="28747"/>
                  </a:lnTo>
                  <a:close/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414059B3-5AB1-4443-37DE-2E7E4545E1C5}"/>
                </a:ext>
              </a:extLst>
            </p:cNvPr>
            <p:cNvSpPr/>
            <p:nvPr/>
          </p:nvSpPr>
          <p:spPr>
            <a:xfrm>
              <a:off x="4804183" y="1770527"/>
              <a:ext cx="743530" cy="983178"/>
            </a:xfrm>
            <a:custGeom>
              <a:avLst/>
              <a:gdLst>
                <a:gd name="connsiteX0" fmla="*/ 725179 w 743530"/>
                <a:gd name="connsiteY0" fmla="*/ 239648 h 983178"/>
                <a:gd name="connsiteX1" fmla="*/ 387540 w 743530"/>
                <a:gd name="connsiteY1" fmla="*/ 744073 h 983178"/>
                <a:gd name="connsiteX2" fmla="*/ 743530 w 743530"/>
                <a:gd name="connsiteY2" fmla="*/ 744073 h 983178"/>
                <a:gd name="connsiteX3" fmla="*/ 743530 w 743530"/>
                <a:gd name="connsiteY3" fmla="*/ 983179 h 983178"/>
                <a:gd name="connsiteX4" fmla="*/ 0 w 743530"/>
                <a:gd name="connsiteY4" fmla="*/ 983179 h 983178"/>
                <a:gd name="connsiteX5" fmla="*/ 0 w 743530"/>
                <a:gd name="connsiteY5" fmla="*/ 803465 h 983178"/>
                <a:gd name="connsiteX6" fmla="*/ 394229 w 743530"/>
                <a:gd name="connsiteY6" fmla="*/ 226901 h 983178"/>
                <a:gd name="connsiteX7" fmla="*/ 18441 w 743530"/>
                <a:gd name="connsiteY7" fmla="*/ 226901 h 983178"/>
                <a:gd name="connsiteX8" fmla="*/ 18441 w 743530"/>
                <a:gd name="connsiteY8" fmla="*/ 0 h 983178"/>
                <a:gd name="connsiteX9" fmla="*/ 725179 w 743530"/>
                <a:gd name="connsiteY9" fmla="*/ 0 h 983178"/>
                <a:gd name="connsiteX10" fmla="*/ 725179 w 743530"/>
                <a:gd name="connsiteY10" fmla="*/ 239648 h 98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530" h="983178">
                  <a:moveTo>
                    <a:pt x="725179" y="239648"/>
                  </a:moveTo>
                  <a:lnTo>
                    <a:pt x="387540" y="744073"/>
                  </a:lnTo>
                  <a:lnTo>
                    <a:pt x="743530" y="744073"/>
                  </a:lnTo>
                  <a:lnTo>
                    <a:pt x="743530" y="983179"/>
                  </a:lnTo>
                  <a:lnTo>
                    <a:pt x="0" y="983179"/>
                  </a:lnTo>
                  <a:lnTo>
                    <a:pt x="0" y="803465"/>
                  </a:lnTo>
                  <a:lnTo>
                    <a:pt x="394229" y="226901"/>
                  </a:lnTo>
                  <a:lnTo>
                    <a:pt x="18441" y="226901"/>
                  </a:lnTo>
                  <a:lnTo>
                    <a:pt x="18441" y="0"/>
                  </a:lnTo>
                  <a:lnTo>
                    <a:pt x="725179" y="0"/>
                  </a:lnTo>
                  <a:lnTo>
                    <a:pt x="725179" y="239648"/>
                  </a:lnTo>
                  <a:close/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C3B7760D-72EC-0F7D-DEFB-9A31349AC7AB}"/>
                </a:ext>
              </a:extLst>
            </p:cNvPr>
            <p:cNvSpPr/>
            <p:nvPr/>
          </p:nvSpPr>
          <p:spPr>
            <a:xfrm>
              <a:off x="4823347" y="2132303"/>
              <a:ext cx="708093" cy="236935"/>
            </a:xfrm>
            <a:custGeom>
              <a:avLst/>
              <a:gdLst>
                <a:gd name="connsiteX0" fmla="*/ 0 w 708093"/>
                <a:gd name="connsiteY0" fmla="*/ 0 h 236935"/>
                <a:gd name="connsiteX1" fmla="*/ 708094 w 708093"/>
                <a:gd name="connsiteY1" fmla="*/ 0 h 236935"/>
                <a:gd name="connsiteX2" fmla="*/ 708094 w 708093"/>
                <a:gd name="connsiteY2" fmla="*/ 236936 h 236935"/>
                <a:gd name="connsiteX3" fmla="*/ 0 w 708093"/>
                <a:gd name="connsiteY3" fmla="*/ 236936 h 23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8093" h="236935">
                  <a:moveTo>
                    <a:pt x="0" y="0"/>
                  </a:moveTo>
                  <a:lnTo>
                    <a:pt x="708094" y="0"/>
                  </a:lnTo>
                  <a:lnTo>
                    <a:pt x="708094" y="236936"/>
                  </a:lnTo>
                  <a:lnTo>
                    <a:pt x="0" y="236936"/>
                  </a:lnTo>
                  <a:close/>
                </a:path>
              </a:pathLst>
            </a:custGeom>
            <a:solidFill>
              <a:srgbClr val="00C6CC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54817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Com Imagem P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C46759C8-8924-924B-E00F-A3AAB677F6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7309" y="3428748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3" name="Imagem 2" descr="Uma imagem contendo segurando, em pé, mesa, mulher&#10;&#10;Descrição gerada automaticamente">
            <a:extLst>
              <a:ext uri="{FF2B5EF4-FFF2-40B4-BE49-F238E27FC236}">
                <a16:creationId xmlns:a16="http://schemas.microsoft.com/office/drawing/2014/main" id="{0BAD2270-FC81-C003-AB37-EA8F90EDE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4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om Imagem 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Homem com os braços cruzados&#10;&#10;Descrição gerada automaticamente com confiança média">
            <a:extLst>
              <a:ext uri="{FF2B5EF4-FFF2-40B4-BE49-F238E27FC236}">
                <a16:creationId xmlns:a16="http://schemas.microsoft.com/office/drawing/2014/main" id="{3A2D00F7-1FF6-970E-78D2-02931B5C4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C46759C8-8924-924B-E00F-A3AAB677F6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4409" y="3083508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</p:spTree>
    <p:extLst>
      <p:ext uri="{BB962C8B-B14F-4D97-AF65-F5344CB8AC3E}">
        <p14:creationId xmlns:p14="http://schemas.microsoft.com/office/powerpoint/2010/main" val="175869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respiro 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D4944173-196C-F947-521A-4AC309E99DAA}"/>
              </a:ext>
            </a:extLst>
          </p:cNvPr>
          <p:cNvSpPr/>
          <p:nvPr userDrawn="1"/>
        </p:nvSpPr>
        <p:spPr>
          <a:xfrm>
            <a:off x="0" y="2027975"/>
            <a:ext cx="8157172" cy="2802046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Graphic 13">
            <a:extLst>
              <a:ext uri="{FF2B5EF4-FFF2-40B4-BE49-F238E27FC236}">
                <a16:creationId xmlns:a16="http://schemas.microsoft.com/office/drawing/2014/main" id="{D386BFB4-EFEE-5F17-FBB6-9C74D3E74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9369" y="2027976"/>
            <a:ext cx="2024335" cy="2802045"/>
          </a:xfrm>
          <a:prstGeom prst="rect">
            <a:avLst/>
          </a:prstGeom>
        </p:spPr>
      </p:pic>
      <p:pic>
        <p:nvPicPr>
          <p:cNvPr id="6" name="Marca">
            <a:extLst>
              <a:ext uri="{FF2B5EF4-FFF2-40B4-BE49-F238E27FC236}">
                <a16:creationId xmlns:a16="http://schemas.microsoft.com/office/drawing/2014/main" id="{2DB8CD86-CF1F-8625-3C42-6E2FBBC950A4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3126BDF3-AE9B-A28C-E3A1-C4121568A9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582" y="3083506"/>
            <a:ext cx="5804218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</p:spTree>
    <p:extLst>
      <p:ext uri="{BB962C8B-B14F-4D97-AF65-F5344CB8AC3E}">
        <p14:creationId xmlns:p14="http://schemas.microsoft.com/office/powerpoint/2010/main" val="17327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apa /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9F005841-B3CE-48D0-E1DE-DE4F3EC714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27369E4-BBFE-47EA-1901-3F8C8199FE6F}"/>
              </a:ext>
            </a:extLst>
          </p:cNvPr>
          <p:cNvSpPr/>
          <p:nvPr userDrawn="1"/>
        </p:nvSpPr>
        <p:spPr>
          <a:xfrm>
            <a:off x="-1" y="0"/>
            <a:ext cx="5582979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Marca">
            <a:extLst>
              <a:ext uri="{FF2B5EF4-FFF2-40B4-BE49-F238E27FC236}">
                <a16:creationId xmlns:a16="http://schemas.microsoft.com/office/drawing/2014/main" id="{68C05EDA-1BAB-D570-E41F-EDD00898B7A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CA8DCD2-C1DD-FE7E-02C0-80CEA0CD7C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88001" y="0"/>
            <a:ext cx="4470402" cy="6858000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pic>
        <p:nvPicPr>
          <p:cNvPr id="5" name="Graphic 13">
            <a:extLst>
              <a:ext uri="{FF2B5EF4-FFF2-40B4-BE49-F238E27FC236}">
                <a16:creationId xmlns:a16="http://schemas.microsoft.com/office/drawing/2014/main" id="{D75721DF-5314-CD75-8144-F63C267CDB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5012" y="5033696"/>
            <a:ext cx="1317967" cy="1824304"/>
          </a:xfrm>
          <a:prstGeom prst="rect">
            <a:avLst/>
          </a:prstGeom>
        </p:spPr>
      </p:pic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4776A244-1EB6-DFCD-3E0F-61ED45C544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300" y="764413"/>
            <a:ext cx="4178300" cy="13956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390716CA-95A2-A982-0F8B-C7EE918202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03" r="27564"/>
          <a:stretch/>
        </p:blipFill>
        <p:spPr>
          <a:xfrm>
            <a:off x="-5024" y="3428999"/>
            <a:ext cx="5482263" cy="3452460"/>
          </a:xfrm>
          <a:prstGeom prst="rect">
            <a:avLst/>
          </a:prstGeom>
        </p:spPr>
      </p:pic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24CF57E2-0652-873A-7B1E-BA7EFB44DC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659" y="2305339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A0BB80D8-D991-7A75-60F5-C66B4B09A2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58405" y="1957042"/>
            <a:ext cx="2133595" cy="294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7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-Capa /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9F005841-B3CE-48D0-E1DE-DE4F3EC714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27369E4-BBFE-47EA-1901-3F8C8199FE6F}"/>
              </a:ext>
            </a:extLst>
          </p:cNvPr>
          <p:cNvSpPr/>
          <p:nvPr userDrawn="1"/>
        </p:nvSpPr>
        <p:spPr>
          <a:xfrm>
            <a:off x="-1" y="0"/>
            <a:ext cx="5582979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Marca">
            <a:extLst>
              <a:ext uri="{FF2B5EF4-FFF2-40B4-BE49-F238E27FC236}">
                <a16:creationId xmlns:a16="http://schemas.microsoft.com/office/drawing/2014/main" id="{68C05EDA-1BAB-D570-E41F-EDD00898B7A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CA8DCD2-C1DD-FE7E-02C0-80CEA0CD7C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88001" y="0"/>
            <a:ext cx="4470402" cy="6858000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4776A244-1EB6-DFCD-3E0F-61ED45C544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300" y="764413"/>
            <a:ext cx="4178300" cy="13956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24CF57E2-0652-873A-7B1E-BA7EFB44DC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659" y="2305339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A0BB80D8-D991-7A75-60F5-C66B4B09A2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8405" y="1957042"/>
            <a:ext cx="2133595" cy="2943914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C672BF2-396D-6761-6855-BDE9241A83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3700" y="3125576"/>
            <a:ext cx="2695575" cy="3733800"/>
          </a:xfrm>
          <a:prstGeom prst="rect">
            <a:avLst/>
          </a:prstGeom>
        </p:spPr>
      </p:pic>
      <p:pic>
        <p:nvPicPr>
          <p:cNvPr id="18" name="Imagem 17" descr="Interface gráfica do usuário, Aplicativo">
            <a:extLst>
              <a:ext uri="{FF2B5EF4-FFF2-40B4-BE49-F238E27FC236}">
                <a16:creationId xmlns:a16="http://schemas.microsoft.com/office/drawing/2014/main" id="{7CC6A05A-F4EC-ACEB-90BB-C4B7FB5AF9B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039" y="2924469"/>
            <a:ext cx="5699052" cy="427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6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Capa /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9F005841-B3CE-48D0-E1DE-DE4F3EC714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27369E4-BBFE-47EA-1901-3F8C8199FE6F}"/>
              </a:ext>
            </a:extLst>
          </p:cNvPr>
          <p:cNvSpPr/>
          <p:nvPr userDrawn="1"/>
        </p:nvSpPr>
        <p:spPr>
          <a:xfrm>
            <a:off x="-1" y="0"/>
            <a:ext cx="5582979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Marca">
            <a:extLst>
              <a:ext uri="{FF2B5EF4-FFF2-40B4-BE49-F238E27FC236}">
                <a16:creationId xmlns:a16="http://schemas.microsoft.com/office/drawing/2014/main" id="{68C05EDA-1BAB-D570-E41F-EDD00898B7A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CA8DCD2-C1DD-FE7E-02C0-80CEA0CD7C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88001" y="0"/>
            <a:ext cx="4470402" cy="6858000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pic>
        <p:nvPicPr>
          <p:cNvPr id="5" name="Graphic 13">
            <a:extLst>
              <a:ext uri="{FF2B5EF4-FFF2-40B4-BE49-F238E27FC236}">
                <a16:creationId xmlns:a16="http://schemas.microsoft.com/office/drawing/2014/main" id="{D75721DF-5314-CD75-8144-F63C267CDB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5012" y="5033696"/>
            <a:ext cx="1317967" cy="1824304"/>
          </a:xfrm>
          <a:prstGeom prst="rect">
            <a:avLst/>
          </a:prstGeom>
        </p:spPr>
      </p:pic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4776A244-1EB6-DFCD-3E0F-61ED45C544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300" y="764413"/>
            <a:ext cx="4178300" cy="13956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24CF57E2-0652-873A-7B1E-BA7EFB44DC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659" y="2305339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A0BB80D8-D991-7A75-60F5-C66B4B09A2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47841" y="-2"/>
            <a:ext cx="1644158" cy="2268594"/>
          </a:xfrm>
          <a:prstGeom prst="rect">
            <a:avLst/>
          </a:prstGeom>
        </p:spPr>
      </p:pic>
      <p:pic>
        <p:nvPicPr>
          <p:cNvPr id="4" name="Imagem 3" descr="Fundo preto com letras brancas&#10;&#10;O conteúdo gerado por IA pode estar incorreto.">
            <a:extLst>
              <a:ext uri="{FF2B5EF4-FFF2-40B4-BE49-F238E27FC236}">
                <a16:creationId xmlns:a16="http://schemas.microsoft.com/office/drawing/2014/main" id="{EFE44B6B-F98C-4907-6121-130D607CE86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2" y="2863767"/>
            <a:ext cx="4989916" cy="406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7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2F2A0E65-3969-7495-A52E-8BEFFA10D3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4F9105DC-A7FF-642A-3694-AC5ACA7DA8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2999" y="398883"/>
            <a:ext cx="4405833" cy="12641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10" name="Graphic 13">
            <a:extLst>
              <a:ext uri="{FF2B5EF4-FFF2-40B4-BE49-F238E27FC236}">
                <a16:creationId xmlns:a16="http://schemas.microsoft.com/office/drawing/2014/main" id="{95FDCDA7-5454-2300-DBBB-EC504C8D8F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98883"/>
            <a:ext cx="913282" cy="1264148"/>
          </a:xfrm>
          <a:prstGeom prst="rect">
            <a:avLst/>
          </a:prstGeom>
        </p:spPr>
      </p:pic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5FE87309-0897-A8D7-C973-2E267804E7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60409" y="1920292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4FBBA7C2-8F39-F569-ADB2-0EC9F079D2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0409" y="2332011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B7AC6CE0-9DD9-9CA4-4A4A-9D3825AADD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0409" y="2743730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6EBAA856-937A-1079-D9B5-067432C90E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60409" y="3155449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F4497560-644E-05B8-DDF4-3112A94EA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60409" y="3567168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02D5AC3B-73FC-86C2-8D7C-B69BEDB390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60409" y="3978887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8" name="Espaço Reservado para Texto 13">
            <a:extLst>
              <a:ext uri="{FF2B5EF4-FFF2-40B4-BE49-F238E27FC236}">
                <a16:creationId xmlns:a16="http://schemas.microsoft.com/office/drawing/2014/main" id="{B2D3C84E-95BF-390A-3E11-561EF2D4B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60409" y="4390606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9" name="Espaço Reservado para Texto 13">
            <a:extLst>
              <a:ext uri="{FF2B5EF4-FFF2-40B4-BE49-F238E27FC236}">
                <a16:creationId xmlns:a16="http://schemas.microsoft.com/office/drawing/2014/main" id="{66BFAAEF-69F5-78E3-AAE5-70801F3DC5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60409" y="4802325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20" name="Espaço Reservado para Texto 13">
            <a:extLst>
              <a:ext uri="{FF2B5EF4-FFF2-40B4-BE49-F238E27FC236}">
                <a16:creationId xmlns:a16="http://schemas.microsoft.com/office/drawing/2014/main" id="{4EE6BEF7-4184-7D56-7766-33C3D0A22B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60409" y="5214044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0B64D460-7D38-31B6-3CC2-D7D753E971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60409" y="5625766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22" name="Espaço Reservado para Texto 13">
            <a:extLst>
              <a:ext uri="{FF2B5EF4-FFF2-40B4-BE49-F238E27FC236}">
                <a16:creationId xmlns:a16="http://schemas.microsoft.com/office/drawing/2014/main" id="{3636C921-9328-E973-3F62-D1EE6D3462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2999" y="1920292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3" name="Espaço Reservado para Texto 13">
            <a:extLst>
              <a:ext uri="{FF2B5EF4-FFF2-40B4-BE49-F238E27FC236}">
                <a16:creationId xmlns:a16="http://schemas.microsoft.com/office/drawing/2014/main" id="{5BAD70E2-58BB-54DE-0BA6-C1D584F767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42999" y="2332011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1687AB55-AF94-B669-D1CD-7DCE822E0F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2999" y="2743730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717D78E-FD0B-B5EB-9816-89AE2C3FE046}"/>
              </a:ext>
            </a:extLst>
          </p:cNvPr>
          <p:cNvSpPr/>
          <p:nvPr userDrawn="1"/>
        </p:nvSpPr>
        <p:spPr>
          <a:xfrm>
            <a:off x="6096000" y="0"/>
            <a:ext cx="6095999" cy="6857999"/>
          </a:xfrm>
          <a:prstGeom prst="rect">
            <a:avLst/>
          </a:prstGeom>
          <a:solidFill>
            <a:srgbClr val="D3FF00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25" name="Espaço Reservado para Texto 13">
            <a:extLst>
              <a:ext uri="{FF2B5EF4-FFF2-40B4-BE49-F238E27FC236}">
                <a16:creationId xmlns:a16="http://schemas.microsoft.com/office/drawing/2014/main" id="{A05848FA-1DEA-B842-0E2B-07F968A0D1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42999" y="3155449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6" name="Espaço Reservado para Texto 13">
            <a:extLst>
              <a:ext uri="{FF2B5EF4-FFF2-40B4-BE49-F238E27FC236}">
                <a16:creationId xmlns:a16="http://schemas.microsoft.com/office/drawing/2014/main" id="{7C05B6E5-D378-D8AE-9C4A-628EDEF50B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2999" y="3567168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7" name="Espaço Reservado para Texto 13">
            <a:extLst>
              <a:ext uri="{FF2B5EF4-FFF2-40B4-BE49-F238E27FC236}">
                <a16:creationId xmlns:a16="http://schemas.microsoft.com/office/drawing/2014/main" id="{BDB81A3E-35FE-0BA1-54D6-F7AA4BEA986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2999" y="3978887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8" name="Espaço Reservado para Texto 13">
            <a:extLst>
              <a:ext uri="{FF2B5EF4-FFF2-40B4-BE49-F238E27FC236}">
                <a16:creationId xmlns:a16="http://schemas.microsoft.com/office/drawing/2014/main" id="{BFA1D543-E81D-8ED4-9906-A16DA4B15B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2999" y="4390606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9" name="Espaço Reservado para Texto 13">
            <a:extLst>
              <a:ext uri="{FF2B5EF4-FFF2-40B4-BE49-F238E27FC236}">
                <a16:creationId xmlns:a16="http://schemas.microsoft.com/office/drawing/2014/main" id="{64E77CDD-206B-A595-3E03-7750B20EAD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42999" y="4802325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30" name="Espaço Reservado para Texto 13">
            <a:extLst>
              <a:ext uri="{FF2B5EF4-FFF2-40B4-BE49-F238E27FC236}">
                <a16:creationId xmlns:a16="http://schemas.microsoft.com/office/drawing/2014/main" id="{222FEDBB-8C58-FE51-FAFB-FB0ECB5324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42999" y="5214044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31" name="Espaço Reservado para Texto 13">
            <a:extLst>
              <a:ext uri="{FF2B5EF4-FFF2-40B4-BE49-F238E27FC236}">
                <a16:creationId xmlns:a16="http://schemas.microsoft.com/office/drawing/2014/main" id="{88A5F220-4762-D83C-9D7F-448C59B9807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2999" y="5625766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pic>
        <p:nvPicPr>
          <p:cNvPr id="6" name="Marca">
            <a:extLst>
              <a:ext uri="{FF2B5EF4-FFF2-40B4-BE49-F238E27FC236}">
                <a16:creationId xmlns:a16="http://schemas.microsoft.com/office/drawing/2014/main" id="{3890EA79-DCEE-F402-D2CF-43BD69FE90B2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3" name="Graphic 12">
            <a:extLst>
              <a:ext uri="{FF2B5EF4-FFF2-40B4-BE49-F238E27FC236}">
                <a16:creationId xmlns:a16="http://schemas.microsoft.com/office/drawing/2014/main" id="{5B2BAE26-8EE5-D315-3FC7-C09A30C933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11125" y="1028697"/>
            <a:ext cx="3465748" cy="480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4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ópicos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494C9AAA-2A99-8149-33DC-DF3D142389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9F89440C-BAD7-0EDA-0EEE-D8902DBAD7FB}"/>
              </a:ext>
            </a:extLst>
          </p:cNvPr>
          <p:cNvSpPr/>
          <p:nvPr userDrawn="1"/>
        </p:nvSpPr>
        <p:spPr>
          <a:xfrm flipH="1">
            <a:off x="5105385" y="-1"/>
            <a:ext cx="7086611" cy="6858000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7">
            <a:extLst>
              <a:ext uri="{FF2B5EF4-FFF2-40B4-BE49-F238E27FC236}">
                <a16:creationId xmlns:a16="http://schemas.microsoft.com/office/drawing/2014/main" id="{B4A1318C-965D-EC89-9A6C-22097626EAE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" y="0"/>
            <a:ext cx="5105389" cy="6858000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5679A070-A39B-842C-AD9D-9C9CAB9E58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52105" y="682603"/>
            <a:ext cx="4393170" cy="1298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34A01FFC-CBB9-D0FF-A620-082F0B9D31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49455" y="2177873"/>
            <a:ext cx="4393169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7" name="Graphic 13">
            <a:extLst>
              <a:ext uri="{FF2B5EF4-FFF2-40B4-BE49-F238E27FC236}">
                <a16:creationId xmlns:a16="http://schemas.microsoft.com/office/drawing/2014/main" id="{2D10286D-1D67-5878-8307-DB8948F7BB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8839" y="682603"/>
            <a:ext cx="1317967" cy="1824304"/>
          </a:xfrm>
          <a:prstGeom prst="rect">
            <a:avLst/>
          </a:prstGeom>
        </p:spPr>
      </p:pic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29BFA904-B82C-C593-D552-2A1391633C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49455" y="3076066"/>
            <a:ext cx="4393170" cy="27913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3B67ECB0-983A-31DB-89D5-D32C181CF5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4350" y="6169874"/>
            <a:ext cx="908050" cy="345226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03F707CB-7F60-07D7-F9B8-A8B23CA486E4}"/>
              </a:ext>
            </a:extLst>
          </p:cNvPr>
          <p:cNvSpPr/>
          <p:nvPr userDrawn="1"/>
        </p:nvSpPr>
        <p:spPr>
          <a:xfrm flipH="1">
            <a:off x="-4" y="5867401"/>
            <a:ext cx="5100088" cy="9906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1200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o corrid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3C80EDC6-15B1-5A5F-8F3E-C07FA93F1E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7B3A168-03C7-6072-F537-A122CF79A2F0}"/>
              </a:ext>
            </a:extLst>
          </p:cNvPr>
          <p:cNvSpPr/>
          <p:nvPr userDrawn="1"/>
        </p:nvSpPr>
        <p:spPr>
          <a:xfrm flipH="1">
            <a:off x="0" y="1824303"/>
            <a:ext cx="12192000" cy="5033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5B71C38E-CDE6-C293-6F28-4B4A415491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668" y="2795164"/>
            <a:ext cx="7317419" cy="3034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2CD45B69-FE7E-7CBD-8B90-F17B8669E7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7668" y="2376065"/>
            <a:ext cx="7317419" cy="3099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4" name="Espaço Reservado para Imagem 7">
            <a:extLst>
              <a:ext uri="{FF2B5EF4-FFF2-40B4-BE49-F238E27FC236}">
                <a16:creationId xmlns:a16="http://schemas.microsoft.com/office/drawing/2014/main" id="{22C2D0BE-C4C1-A2BD-3D84-E0AE89643FE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52414" y="0"/>
            <a:ext cx="3639585" cy="5829298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pic>
        <p:nvPicPr>
          <p:cNvPr id="4" name="Marca">
            <a:extLst>
              <a:ext uri="{FF2B5EF4-FFF2-40B4-BE49-F238E27FC236}">
                <a16:creationId xmlns:a16="http://schemas.microsoft.com/office/drawing/2014/main" id="{58CCCC2D-51E2-3E7B-205B-61F86BF9110B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9D724A50-9BBA-EA6F-6703-6097EE9B98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670" y="552646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E4DB0492-E87F-F9E8-153B-737DD3141D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7669" y="1252785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</p:spTree>
    <p:extLst>
      <p:ext uri="{BB962C8B-B14F-4D97-AF65-F5344CB8AC3E}">
        <p14:creationId xmlns:p14="http://schemas.microsoft.com/office/powerpoint/2010/main" val="2175908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exto corrido(bullets)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3C80EDC6-15B1-5A5F-8F3E-C07FA93F1E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7B3A168-03C7-6072-F537-A122CF79A2F0}"/>
              </a:ext>
            </a:extLst>
          </p:cNvPr>
          <p:cNvSpPr/>
          <p:nvPr userDrawn="1"/>
        </p:nvSpPr>
        <p:spPr>
          <a:xfrm flipH="1">
            <a:off x="-2" y="1727969"/>
            <a:ext cx="12192002" cy="5130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5B71C38E-CDE6-C293-6F28-4B4A415491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31384" y="2350229"/>
            <a:ext cx="3335972" cy="1922004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00C6CC"/>
              </a:buClr>
              <a:buFont typeface="Arial" panose="020B0604020202020204" pitchFamily="34" charset="0"/>
              <a:buChar char="•"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2CD45B69-FE7E-7CBD-8B90-F17B8669E7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1383" y="1880330"/>
            <a:ext cx="7317419" cy="3099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4" name="Espaço Reservado para Imagem 7">
            <a:extLst>
              <a:ext uri="{FF2B5EF4-FFF2-40B4-BE49-F238E27FC236}">
                <a16:creationId xmlns:a16="http://schemas.microsoft.com/office/drawing/2014/main" id="{22C2D0BE-C4C1-A2BD-3D84-E0AE89643FE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129157" y="4530354"/>
            <a:ext cx="7317419" cy="1984746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9A78D432-C336-6C92-98AB-29693749DA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805" y="2350230"/>
            <a:ext cx="3426774" cy="1899104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00C6CC"/>
              </a:buClr>
              <a:buFont typeface="Arial" panose="020B0604020202020204" pitchFamily="34" charset="0"/>
              <a:buChar char="•"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4D8BBED-F07C-6327-613D-AD4208A04C08}"/>
              </a:ext>
            </a:extLst>
          </p:cNvPr>
          <p:cNvSpPr/>
          <p:nvPr userDrawn="1"/>
        </p:nvSpPr>
        <p:spPr>
          <a:xfrm>
            <a:off x="10058402" y="0"/>
            <a:ext cx="2133600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13">
            <a:extLst>
              <a:ext uri="{FF2B5EF4-FFF2-40B4-BE49-F238E27FC236}">
                <a16:creationId xmlns:a16="http://schemas.microsoft.com/office/drawing/2014/main" id="{3415B0D9-8509-815D-1C80-61DA350B53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29164" y="321812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12AE714B-808B-C068-7AC7-5B4F9DDED1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9163" y="1021951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89E84AA8-F912-12A1-17F2-2A881F5EF2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4350" y="6169874"/>
            <a:ext cx="908050" cy="345226"/>
          </a:xfrm>
          <a:prstGeom prst="rect">
            <a:avLst/>
          </a:prstGeom>
        </p:spPr>
      </p:pic>
      <p:pic>
        <p:nvPicPr>
          <p:cNvPr id="4" name="Graphic 13">
            <a:extLst>
              <a:ext uri="{FF2B5EF4-FFF2-40B4-BE49-F238E27FC236}">
                <a16:creationId xmlns:a16="http://schemas.microsoft.com/office/drawing/2014/main" id="{4A66E9AB-C652-608F-DAB4-C3DF45083F5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6172"/>
          <a:stretch/>
        </p:blipFill>
        <p:spPr>
          <a:xfrm>
            <a:off x="-3" y="0"/>
            <a:ext cx="547132" cy="1727968"/>
          </a:xfrm>
          <a:prstGeom prst="rect">
            <a:avLst/>
          </a:prstGeom>
        </p:spPr>
      </p:pic>
      <p:pic>
        <p:nvPicPr>
          <p:cNvPr id="24" name="Graphic 12">
            <a:extLst>
              <a:ext uri="{FF2B5EF4-FFF2-40B4-BE49-F238E27FC236}">
                <a16:creationId xmlns:a16="http://schemas.microsoft.com/office/drawing/2014/main" id="{5EAAE50A-F913-C4AF-A6D3-C26D5D1EE7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8404" y="1951820"/>
            <a:ext cx="2133596" cy="295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651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portfólio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9FA18114-DB45-16B7-0A88-51C330E9B663}"/>
              </a:ext>
            </a:extLst>
          </p:cNvPr>
          <p:cNvSpPr/>
          <p:nvPr userDrawn="1"/>
        </p:nvSpPr>
        <p:spPr>
          <a:xfrm flipH="1">
            <a:off x="-6" y="0"/>
            <a:ext cx="12192005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FB47C00-9F09-5B28-A0E3-889DA2C15C2F}"/>
              </a:ext>
            </a:extLst>
          </p:cNvPr>
          <p:cNvSpPr/>
          <p:nvPr userDrawn="1"/>
        </p:nvSpPr>
        <p:spPr>
          <a:xfrm>
            <a:off x="609600" y="1557733"/>
            <a:ext cx="5297714" cy="4058149"/>
          </a:xfrm>
          <a:prstGeom prst="rect">
            <a:avLst/>
          </a:prstGeom>
          <a:solidFill>
            <a:schemeClr val="bg1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9" name="Espaço Reservado para Imagem 7">
            <a:extLst>
              <a:ext uri="{FF2B5EF4-FFF2-40B4-BE49-F238E27FC236}">
                <a16:creationId xmlns:a16="http://schemas.microsoft.com/office/drawing/2014/main" id="{C363D87A-62DB-91A6-A07E-427C2003765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599" y="1557733"/>
            <a:ext cx="5297715" cy="4058149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31BA5E0-FAA0-85AD-AF5B-0F5969A4C511}"/>
              </a:ext>
            </a:extLst>
          </p:cNvPr>
          <p:cNvSpPr/>
          <p:nvPr userDrawn="1"/>
        </p:nvSpPr>
        <p:spPr>
          <a:xfrm>
            <a:off x="6284687" y="1557733"/>
            <a:ext cx="5297714" cy="4058149"/>
          </a:xfrm>
          <a:prstGeom prst="rect">
            <a:avLst/>
          </a:prstGeom>
          <a:solidFill>
            <a:srgbClr val="D3FF00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10" name="Espaço Reservado para Imagem 7">
            <a:extLst>
              <a:ext uri="{FF2B5EF4-FFF2-40B4-BE49-F238E27FC236}">
                <a16:creationId xmlns:a16="http://schemas.microsoft.com/office/drawing/2014/main" id="{2A04230B-C99D-1163-B0E3-59226D8BDB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84686" y="1557733"/>
            <a:ext cx="5297715" cy="4058149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6" name="Espaço Reservado para Texto 13">
            <a:extLst>
              <a:ext uri="{FF2B5EF4-FFF2-40B4-BE49-F238E27FC236}">
                <a16:creationId xmlns:a16="http://schemas.microsoft.com/office/drawing/2014/main" id="{52A2C88B-4E0B-2230-5EF4-AA4DA5D0E3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37287" y="202185"/>
            <a:ext cx="7317417" cy="6071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725E794A-17B1-6DF2-E25A-68C64A85D4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37287" y="902324"/>
            <a:ext cx="7317416" cy="329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92E612E3-1E30-5B7E-8251-6A258EA1A1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74350" y="6169874"/>
            <a:ext cx="908050" cy="34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74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693C7D82-34E7-998B-209C-BCAF26D39B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8DD1751E-A07D-E796-7C60-5A7357644175}"/>
              </a:ext>
            </a:extLst>
          </p:cNvPr>
          <p:cNvSpPr/>
          <p:nvPr userDrawn="1"/>
        </p:nvSpPr>
        <p:spPr>
          <a:xfrm>
            <a:off x="9051944" y="0"/>
            <a:ext cx="3140056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9585B8B-0B4B-738D-A9FC-A23AE6113034}"/>
              </a:ext>
            </a:extLst>
          </p:cNvPr>
          <p:cNvSpPr/>
          <p:nvPr userDrawn="1"/>
        </p:nvSpPr>
        <p:spPr>
          <a:xfrm flipH="1">
            <a:off x="0" y="1727071"/>
            <a:ext cx="12192000" cy="5130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spaço Reservado para Tabela 34">
            <a:extLst>
              <a:ext uri="{FF2B5EF4-FFF2-40B4-BE49-F238E27FC236}">
                <a16:creationId xmlns:a16="http://schemas.microsoft.com/office/drawing/2014/main" id="{F9AD3D09-EEC0-7588-A38D-EA595C7DD9BC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673100" y="2076450"/>
            <a:ext cx="10909300" cy="3866406"/>
          </a:xfrm>
          <a:prstGeom prst="rect">
            <a:avLst/>
          </a:prstGeom>
        </p:spPr>
        <p:txBody>
          <a:bodyPr anchor="ctr"/>
          <a:lstStyle>
            <a:lvl1pPr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ctr">
              <a:buNone/>
            </a:pPr>
            <a:r>
              <a:rPr lang="pt-BR"/>
              <a:t>Insira sua tabela aqui</a:t>
            </a:r>
          </a:p>
        </p:txBody>
      </p:sp>
      <p:pic>
        <p:nvPicPr>
          <p:cNvPr id="5" name="Marca">
            <a:extLst>
              <a:ext uri="{FF2B5EF4-FFF2-40B4-BE49-F238E27FC236}">
                <a16:creationId xmlns:a16="http://schemas.microsoft.com/office/drawing/2014/main" id="{2EED0F97-E800-239E-601E-36655D2AF9B6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2" name="Graphic 13">
            <a:extLst>
              <a:ext uri="{FF2B5EF4-FFF2-40B4-BE49-F238E27FC236}">
                <a16:creationId xmlns:a16="http://schemas.microsoft.com/office/drawing/2014/main" id="{98DE4543-C889-AC37-C39F-87DCAE7863D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6172"/>
          <a:stretch/>
        </p:blipFill>
        <p:spPr>
          <a:xfrm>
            <a:off x="11648525" y="0"/>
            <a:ext cx="547132" cy="1727968"/>
          </a:xfrm>
          <a:prstGeom prst="rect">
            <a:avLst/>
          </a:prstGeom>
        </p:spPr>
      </p:pic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0569ADA3-1090-90C3-A767-5F8D8E1827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7670" y="552646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45450EBF-AF17-CC56-B1D6-54F367C006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7669" y="1252785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</p:spTree>
    <p:extLst>
      <p:ext uri="{BB962C8B-B14F-4D97-AF65-F5344CB8AC3E}">
        <p14:creationId xmlns:p14="http://schemas.microsoft.com/office/powerpoint/2010/main" val="3796139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poi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D5D57326-C70A-9FAD-14CE-7FC2E5E09A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8EE061D-8E1D-520C-16E5-47CD6E6BEE84}"/>
              </a:ext>
            </a:extLst>
          </p:cNvPr>
          <p:cNvSpPr/>
          <p:nvPr userDrawn="1"/>
        </p:nvSpPr>
        <p:spPr>
          <a:xfrm flipH="1">
            <a:off x="5161374" y="0"/>
            <a:ext cx="7030625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Marca">
            <a:extLst>
              <a:ext uri="{FF2B5EF4-FFF2-40B4-BE49-F238E27FC236}">
                <a16:creationId xmlns:a16="http://schemas.microsoft.com/office/drawing/2014/main" id="{8CDF8E22-6148-7CC8-6CB5-B424F8ACF05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83E07894-4001-E797-85A0-02B9375A06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99457" y="1411017"/>
            <a:ext cx="3703600" cy="3717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depoimento aqui</a:t>
            </a:r>
          </a:p>
        </p:txBody>
      </p:sp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60A52F3A-0CD9-93F8-E77E-0DC21E73AB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-1"/>
            <a:ext cx="5161369" cy="6857999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pic>
        <p:nvPicPr>
          <p:cNvPr id="10" name="Graphic 13">
            <a:extLst>
              <a:ext uri="{FF2B5EF4-FFF2-40B4-BE49-F238E27FC236}">
                <a16:creationId xmlns:a16="http://schemas.microsoft.com/office/drawing/2014/main" id="{8C940926-54E5-B857-A0A8-F1CF24527A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1372" y="5456712"/>
            <a:ext cx="1012358" cy="1401286"/>
          </a:xfrm>
          <a:prstGeom prst="rect">
            <a:avLst/>
          </a:prstGeom>
        </p:spPr>
      </p:pic>
      <p:pic>
        <p:nvPicPr>
          <p:cNvPr id="6" name="Imagem 5" descr="Logotipo, Ícone&#10;&#10;Descrição gerada automaticamente">
            <a:extLst>
              <a:ext uri="{FF2B5EF4-FFF2-40B4-BE49-F238E27FC236}">
                <a16:creationId xmlns:a16="http://schemas.microsoft.com/office/drawing/2014/main" id="{281016CA-BBF1-7182-1CE5-EFD34D7941B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730" y="1377950"/>
            <a:ext cx="786584" cy="598247"/>
          </a:xfrm>
          <a:prstGeom prst="rect">
            <a:avLst/>
          </a:prstGeom>
        </p:spPr>
      </p:pic>
      <p:pic>
        <p:nvPicPr>
          <p:cNvPr id="14" name="Imagem 13" descr="Logotipo, Ícone&#10;&#10;Descrição gerada automaticamente">
            <a:extLst>
              <a:ext uri="{FF2B5EF4-FFF2-40B4-BE49-F238E27FC236}">
                <a16:creationId xmlns:a16="http://schemas.microsoft.com/office/drawing/2014/main" id="{EE36B05A-FD50-4597-B2A7-F8DEBCF6636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787" y="4530994"/>
            <a:ext cx="791353" cy="59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46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ção de Mídias note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799BA89-F810-AEFB-AD26-C403116F51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0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888F48-DA8B-CF1F-385F-E18FCF4453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2192000" cy="3429001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Texto 13">
            <a:extLst>
              <a:ext uri="{FF2B5EF4-FFF2-40B4-BE49-F238E27FC236}">
                <a16:creationId xmlns:a16="http://schemas.microsoft.com/office/drawing/2014/main" id="{C6C03A5B-FE2F-9773-1F23-A65238974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85143" y="372869"/>
            <a:ext cx="6821714" cy="5168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7" name="Marca">
            <a:extLst>
              <a:ext uri="{FF2B5EF4-FFF2-40B4-BE49-F238E27FC236}">
                <a16:creationId xmlns:a16="http://schemas.microsoft.com/office/drawing/2014/main" id="{76104BF8-4B3B-C94E-C622-5D84184E80D3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DB403C91-06F0-834A-7CE4-E899A051F0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4002" y="1262547"/>
            <a:ext cx="3140258" cy="4332904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3AB408C2-65F8-E876-D3D8-DBEBE4B9DE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0"/>
            <a:ext cx="1226911" cy="1692881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675B6585-B0A9-F727-133A-AA258B9CF1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9865" y="1312897"/>
            <a:ext cx="1226911" cy="1692881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1376F637-4016-ECF0-57FD-EC57003196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1721407"/>
            <a:ext cx="1226911" cy="1692881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A53443A5-07D1-7225-7CFB-C5786498D7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9865" y="3005778"/>
            <a:ext cx="1226911" cy="1692881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755CD284-CB47-A2F8-10FF-12AD4BFA62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9727" y="5179381"/>
            <a:ext cx="1226911" cy="1692881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57FD17F9-D200-CEB2-4F24-977BE6CBB7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3414288"/>
            <a:ext cx="1226911" cy="1692881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C61316FF-F8E9-258A-369B-2FACADD90F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9864" y="4692990"/>
            <a:ext cx="1226911" cy="1692881"/>
          </a:xfrm>
          <a:prstGeom prst="rect">
            <a:avLst/>
          </a:prstGeom>
        </p:spPr>
      </p:pic>
      <p:pic>
        <p:nvPicPr>
          <p:cNvPr id="32" name="Gráfico 31">
            <a:extLst>
              <a:ext uri="{FF2B5EF4-FFF2-40B4-BE49-F238E27FC236}">
                <a16:creationId xmlns:a16="http://schemas.microsoft.com/office/drawing/2014/main" id="{12833642-70FC-5F4E-B31E-8F89D8C8AA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5179381"/>
            <a:ext cx="1226911" cy="1692881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B7174FFC-E846-545C-22D7-25B69F64D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9863" y="6440397"/>
            <a:ext cx="1226911" cy="1692881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2A8E93F6-8D87-C5AD-7DE1-25516B2BC6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9727" y="3414288"/>
            <a:ext cx="1226911" cy="1692881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A8896FE8-9CCC-ECA4-629D-B13226D330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2660" y="4692990"/>
            <a:ext cx="1226911" cy="1692881"/>
          </a:xfrm>
          <a:prstGeom prst="rect">
            <a:avLst/>
          </a:prstGeom>
        </p:spPr>
      </p:pic>
      <p:pic>
        <p:nvPicPr>
          <p:cNvPr id="9" name="Imagem 8" descr="Tela de um computador&#10;&#10;Descrição gerada automaticamente">
            <a:extLst>
              <a:ext uri="{FF2B5EF4-FFF2-40B4-BE49-F238E27FC236}">
                <a16:creationId xmlns:a16="http://schemas.microsoft.com/office/drawing/2014/main" id="{1FB785CE-49F4-593C-BC2B-64D2A3537C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54" y="0"/>
            <a:ext cx="10304891" cy="6858000"/>
          </a:xfrm>
          <a:prstGeom prst="rect">
            <a:avLst/>
          </a:prstGeom>
        </p:spPr>
      </p:pic>
      <p:sp>
        <p:nvSpPr>
          <p:cNvPr id="40" name="Espaço Reservado para Conteúdo 39">
            <a:extLst>
              <a:ext uri="{FF2B5EF4-FFF2-40B4-BE49-F238E27FC236}">
                <a16:creationId xmlns:a16="http://schemas.microsoft.com/office/drawing/2014/main" id="{9AD886F8-89F0-4D02-7470-CCDADB48CB2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43085" y="1638301"/>
            <a:ext cx="4619851" cy="298247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/>
              <a:t>Insira sua mídia aqui</a:t>
            </a:r>
          </a:p>
        </p:txBody>
      </p:sp>
      <p:pic>
        <p:nvPicPr>
          <p:cNvPr id="41" name="Gráfico 40">
            <a:extLst>
              <a:ext uri="{FF2B5EF4-FFF2-40B4-BE49-F238E27FC236}">
                <a16:creationId xmlns:a16="http://schemas.microsoft.com/office/drawing/2014/main" id="{7E331FD6-1977-8C6E-7F19-C8D7D127BA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2660" y="6440397"/>
            <a:ext cx="1226911" cy="169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54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ção de Mídias cel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799BA89-F810-AEFB-AD26-C403116F51F3}"/>
              </a:ext>
            </a:extLst>
          </p:cNvPr>
          <p:cNvSpPr>
            <a:spLocks/>
          </p:cNvSpPr>
          <p:nvPr userDrawn="1"/>
        </p:nvSpPr>
        <p:spPr>
          <a:xfrm flipH="1">
            <a:off x="0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B728A362-CECC-03E8-CA83-DF52E2644EB7}"/>
              </a:ext>
            </a:extLst>
          </p:cNvPr>
          <p:cNvSpPr/>
          <p:nvPr userDrawn="1"/>
        </p:nvSpPr>
        <p:spPr>
          <a:xfrm>
            <a:off x="1608328" y="809897"/>
            <a:ext cx="4577987" cy="5238206"/>
          </a:xfrm>
          <a:prstGeom prst="roundRect">
            <a:avLst>
              <a:gd name="adj" fmla="val 3944"/>
            </a:avLst>
          </a:prstGeom>
          <a:solidFill>
            <a:srgbClr val="00C6CC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3" name="Espaço Reservado para Texto 13">
            <a:extLst>
              <a:ext uri="{FF2B5EF4-FFF2-40B4-BE49-F238E27FC236}">
                <a16:creationId xmlns:a16="http://schemas.microsoft.com/office/drawing/2014/main" id="{C6C03A5B-FE2F-9773-1F23-A65238974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79989" y="1262547"/>
            <a:ext cx="3226528" cy="8928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7" name="Marca">
            <a:extLst>
              <a:ext uri="{FF2B5EF4-FFF2-40B4-BE49-F238E27FC236}">
                <a16:creationId xmlns:a16="http://schemas.microsoft.com/office/drawing/2014/main" id="{76104BF8-4B3B-C94E-C622-5D84184E80D3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25C35FB-5FD7-1FB9-8AFD-52301F6FD8D0}"/>
              </a:ext>
            </a:extLst>
          </p:cNvPr>
          <p:cNvSpPr/>
          <p:nvPr userDrawn="1"/>
        </p:nvSpPr>
        <p:spPr>
          <a:xfrm>
            <a:off x="6138777" y="640080"/>
            <a:ext cx="3127198" cy="5757300"/>
          </a:xfrm>
          <a:prstGeom prst="roundRect">
            <a:avLst>
              <a:gd name="adj" fmla="val 10440"/>
            </a:avLst>
          </a:prstGeom>
          <a:solidFill>
            <a:schemeClr val="bg1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51F7E8BC-32BA-E6C7-78D1-C85509B29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1947" y="460620"/>
            <a:ext cx="3320858" cy="5966342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6E5C9805-E11E-8E12-22EF-AB596BFA7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4002" y="1262547"/>
            <a:ext cx="3140258" cy="4332904"/>
          </a:xfrm>
          <a:prstGeom prst="rect">
            <a:avLst/>
          </a:prstGeom>
        </p:spPr>
      </p:pic>
      <p:sp>
        <p:nvSpPr>
          <p:cNvPr id="18" name="Espaço Reservado para Conteúdo 17">
            <a:extLst>
              <a:ext uri="{FF2B5EF4-FFF2-40B4-BE49-F238E27FC236}">
                <a16:creationId xmlns:a16="http://schemas.microsoft.com/office/drawing/2014/main" id="{8F3E87DC-382E-33D6-1AAA-DBC95B87E3D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6315" y="640081"/>
            <a:ext cx="3032122" cy="5577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pt-BR"/>
              <a:t>Insira sua mídia</a:t>
            </a:r>
          </a:p>
          <a:p>
            <a:pPr lvl="0"/>
            <a:r>
              <a:rPr lang="pt-BR"/>
              <a:t>aqui</a:t>
            </a:r>
          </a:p>
        </p:txBody>
      </p:sp>
      <p:pic>
        <p:nvPicPr>
          <p:cNvPr id="2" name="Imagem 1" descr="Mulher com a mão na cintura&#10;&#10;Descrição gerada automaticamente com confiança média">
            <a:extLst>
              <a:ext uri="{FF2B5EF4-FFF2-40B4-BE49-F238E27FC236}">
                <a16:creationId xmlns:a16="http://schemas.microsoft.com/office/drawing/2014/main" id="{04E488E3-B767-E6D4-CFC3-7E123DEDC7F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462205" y="2348204"/>
            <a:ext cx="6776460" cy="450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63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+ 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27D11EF8-0A61-7A14-615C-2929D8D193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F9D2FCB-6448-E75D-06D1-C7D5C9210221}"/>
              </a:ext>
            </a:extLst>
          </p:cNvPr>
          <p:cNvSpPr/>
          <p:nvPr userDrawn="1"/>
        </p:nvSpPr>
        <p:spPr>
          <a:xfrm>
            <a:off x="-1" y="1"/>
            <a:ext cx="12192000" cy="2027976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1755E4-66B6-3790-305D-87C77B76622B}"/>
              </a:ext>
            </a:extLst>
          </p:cNvPr>
          <p:cNvSpPr/>
          <p:nvPr userDrawn="1"/>
        </p:nvSpPr>
        <p:spPr>
          <a:xfrm flipH="1">
            <a:off x="-2" y="1727070"/>
            <a:ext cx="12192002" cy="5130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spaço Reservado para Gráfico 11">
            <a:extLst>
              <a:ext uri="{FF2B5EF4-FFF2-40B4-BE49-F238E27FC236}">
                <a16:creationId xmlns:a16="http://schemas.microsoft.com/office/drawing/2014/main" id="{26D55F78-7C8F-3972-1663-F937F68FFD2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47129" y="1957388"/>
            <a:ext cx="11097742" cy="3913906"/>
          </a:xfrm>
          <a:prstGeom prst="rect">
            <a:avLst/>
          </a:prstGeom>
        </p:spPr>
        <p:txBody>
          <a:bodyPr anchor="ctr"/>
          <a:lstStyle>
            <a:lvl1pPr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ctr">
              <a:buNone/>
            </a:pPr>
            <a:r>
              <a:rPr lang="pt-BR"/>
              <a:t>Insira seu gráfico aqui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A5F082D-FD13-D033-FCC3-96368995CD8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6172"/>
          <a:stretch/>
        </p:blipFill>
        <p:spPr>
          <a:xfrm>
            <a:off x="-3" y="0"/>
            <a:ext cx="547132" cy="1727968"/>
          </a:xfrm>
          <a:prstGeom prst="rect">
            <a:avLst/>
          </a:prstGeom>
        </p:spPr>
      </p:pic>
      <p:pic>
        <p:nvPicPr>
          <p:cNvPr id="4" name="Marca">
            <a:extLst>
              <a:ext uri="{FF2B5EF4-FFF2-40B4-BE49-F238E27FC236}">
                <a16:creationId xmlns:a16="http://schemas.microsoft.com/office/drawing/2014/main" id="{EE8A570E-8BF7-E562-B4FE-65C0D3577592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FDF4C73C-723B-24F4-BA7D-079CFF45C2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7670" y="552646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E7F71A6E-2403-F747-6FEE-50DC8438C5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7669" y="1252785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</p:spTree>
    <p:extLst>
      <p:ext uri="{BB962C8B-B14F-4D97-AF65-F5344CB8AC3E}">
        <p14:creationId xmlns:p14="http://schemas.microsoft.com/office/powerpoint/2010/main" val="1958459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c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799BA89-F810-AEFB-AD26-C403116F51F3}"/>
              </a:ext>
            </a:extLst>
          </p:cNvPr>
          <p:cNvSpPr/>
          <p:nvPr userDrawn="1"/>
        </p:nvSpPr>
        <p:spPr>
          <a:xfrm flipH="1">
            <a:off x="0" y="1467594"/>
            <a:ext cx="12192000" cy="5390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888F48-DA8B-CF1F-385F-E18FCF4453EE}"/>
              </a:ext>
            </a:extLst>
          </p:cNvPr>
          <p:cNvSpPr/>
          <p:nvPr userDrawn="1"/>
        </p:nvSpPr>
        <p:spPr>
          <a:xfrm>
            <a:off x="0" y="362694"/>
            <a:ext cx="7070756" cy="11049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Texto 13">
            <a:extLst>
              <a:ext uri="{FF2B5EF4-FFF2-40B4-BE49-F238E27FC236}">
                <a16:creationId xmlns:a16="http://schemas.microsoft.com/office/drawing/2014/main" id="{C6C03A5B-FE2F-9773-1F23-A65238974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030" y="656741"/>
            <a:ext cx="7905750" cy="5168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7" name="Marca">
            <a:extLst>
              <a:ext uri="{FF2B5EF4-FFF2-40B4-BE49-F238E27FC236}">
                <a16:creationId xmlns:a16="http://schemas.microsoft.com/office/drawing/2014/main" id="{76104BF8-4B3B-C94E-C622-5D84184E80D3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16" name="Graphic 13">
            <a:extLst>
              <a:ext uri="{FF2B5EF4-FFF2-40B4-BE49-F238E27FC236}">
                <a16:creationId xmlns:a16="http://schemas.microsoft.com/office/drawing/2014/main" id="{7F420912-B0B7-2501-5C9E-D705744EF7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67594"/>
            <a:ext cx="1066801" cy="147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569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os de sup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799BA89-F810-AEFB-AD26-C403116F51F3}"/>
              </a:ext>
            </a:extLst>
          </p:cNvPr>
          <p:cNvSpPr/>
          <p:nvPr userDrawn="1"/>
        </p:nvSpPr>
        <p:spPr>
          <a:xfrm flipH="1">
            <a:off x="0" y="1467594"/>
            <a:ext cx="12192000" cy="5390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888F48-DA8B-CF1F-385F-E18FCF4453EE}"/>
              </a:ext>
            </a:extLst>
          </p:cNvPr>
          <p:cNvSpPr/>
          <p:nvPr userDrawn="1"/>
        </p:nvSpPr>
        <p:spPr>
          <a:xfrm>
            <a:off x="0" y="362694"/>
            <a:ext cx="7070756" cy="11049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Texto 13">
            <a:extLst>
              <a:ext uri="{FF2B5EF4-FFF2-40B4-BE49-F238E27FC236}">
                <a16:creationId xmlns:a16="http://schemas.microsoft.com/office/drawing/2014/main" id="{C6C03A5B-FE2F-9773-1F23-A65238974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030" y="656741"/>
            <a:ext cx="7905750" cy="5168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7" name="Marca">
            <a:extLst>
              <a:ext uri="{FF2B5EF4-FFF2-40B4-BE49-F238E27FC236}">
                <a16:creationId xmlns:a16="http://schemas.microsoft.com/office/drawing/2014/main" id="{76104BF8-4B3B-C94E-C622-5D84184E80D3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11" name="Graphic 13">
            <a:extLst>
              <a:ext uri="{FF2B5EF4-FFF2-40B4-BE49-F238E27FC236}">
                <a16:creationId xmlns:a16="http://schemas.microsoft.com/office/drawing/2014/main" id="{036E182D-0C71-BEC7-D919-7F07242B1B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5200" y="-9051"/>
            <a:ext cx="1066801" cy="147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1436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67CAD3C0-A0F5-D314-D183-7DA0099FBD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50D6DC11-C84C-965A-F902-47834394920E}"/>
              </a:ext>
            </a:extLst>
          </p:cNvPr>
          <p:cNvSpPr/>
          <p:nvPr userDrawn="1"/>
        </p:nvSpPr>
        <p:spPr>
          <a:xfrm>
            <a:off x="-1" y="0"/>
            <a:ext cx="1581151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Marca">
            <a:extLst>
              <a:ext uri="{FF2B5EF4-FFF2-40B4-BE49-F238E27FC236}">
                <a16:creationId xmlns:a16="http://schemas.microsoft.com/office/drawing/2014/main" id="{DD973E2F-6600-25DE-A2FD-B0930496653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618ED8F-1987-9177-177B-216C65F0CB3F}"/>
              </a:ext>
            </a:extLst>
          </p:cNvPr>
          <p:cNvSpPr/>
          <p:nvPr userDrawn="1"/>
        </p:nvSpPr>
        <p:spPr>
          <a:xfrm flipH="1">
            <a:off x="-2" y="2397028"/>
            <a:ext cx="12192002" cy="2311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Texto 13">
            <a:extLst>
              <a:ext uri="{FF2B5EF4-FFF2-40B4-BE49-F238E27FC236}">
                <a16:creationId xmlns:a16="http://schemas.microsoft.com/office/drawing/2014/main" id="{D731A67F-C55F-D4F6-B5B8-C207E8E0A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1152" y="688213"/>
            <a:ext cx="7524750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D999183E-E20C-6DA9-41A0-7348B68534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1150" y="1499766"/>
            <a:ext cx="7524749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655CB64B-CD73-E71C-D675-3395CFDAE8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3596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448D02BC-35BF-BBEF-0467-54DA9B3D07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3723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1BF53574-74F2-9A42-EB1F-7543105307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73850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5A373D2B-65F9-FED9-57FC-6D9FA0976E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43977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A7817FAA-AA3B-FBE0-8788-7CFA7BB9A1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14104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366134B9-4469-2F1A-1789-7ECCF35247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84231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57906CE5-F0C8-432D-14FD-18E8FC83E5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54358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D661FDB-C471-EF0D-3AD8-B1D0E5D02238}"/>
              </a:ext>
            </a:extLst>
          </p:cNvPr>
          <p:cNvCxnSpPr/>
          <p:nvPr userDrawn="1"/>
        </p:nvCxnSpPr>
        <p:spPr>
          <a:xfrm>
            <a:off x="506994" y="3241141"/>
            <a:ext cx="11171976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>
            <a:extLst>
              <a:ext uri="{FF2B5EF4-FFF2-40B4-BE49-F238E27FC236}">
                <a16:creationId xmlns:a16="http://schemas.microsoft.com/office/drawing/2014/main" id="{B6BF2EFA-D58C-7378-4BF3-FE9F984C9EE7}"/>
              </a:ext>
            </a:extLst>
          </p:cNvPr>
          <p:cNvSpPr/>
          <p:nvPr userDrawn="1"/>
        </p:nvSpPr>
        <p:spPr>
          <a:xfrm>
            <a:off x="1222583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85EE60D2-0216-84DC-2937-B90DA417A543}"/>
              </a:ext>
            </a:extLst>
          </p:cNvPr>
          <p:cNvSpPr/>
          <p:nvPr userDrawn="1"/>
        </p:nvSpPr>
        <p:spPr>
          <a:xfrm>
            <a:off x="2786691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96A6766F-9D79-3843-DB9F-88F02CA0435A}"/>
              </a:ext>
            </a:extLst>
          </p:cNvPr>
          <p:cNvSpPr/>
          <p:nvPr userDrawn="1"/>
        </p:nvSpPr>
        <p:spPr>
          <a:xfrm>
            <a:off x="4350799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407A762-ADF9-6B54-8BF6-6CDEA69F0DC6}"/>
              </a:ext>
            </a:extLst>
          </p:cNvPr>
          <p:cNvSpPr/>
          <p:nvPr userDrawn="1"/>
        </p:nvSpPr>
        <p:spPr>
          <a:xfrm>
            <a:off x="5914907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A3D2A9A6-226B-386D-FA00-9E880C5EFC40}"/>
              </a:ext>
            </a:extLst>
          </p:cNvPr>
          <p:cNvSpPr/>
          <p:nvPr userDrawn="1"/>
        </p:nvSpPr>
        <p:spPr>
          <a:xfrm>
            <a:off x="7479015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F571272-D244-D330-F555-0A32D313591C}"/>
              </a:ext>
            </a:extLst>
          </p:cNvPr>
          <p:cNvSpPr/>
          <p:nvPr userDrawn="1"/>
        </p:nvSpPr>
        <p:spPr>
          <a:xfrm>
            <a:off x="9043123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79BA0C46-3C9D-CB8B-CECD-3B4895D29F94}"/>
              </a:ext>
            </a:extLst>
          </p:cNvPr>
          <p:cNvSpPr/>
          <p:nvPr userDrawn="1"/>
        </p:nvSpPr>
        <p:spPr>
          <a:xfrm>
            <a:off x="10607231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spaço Reservado para Imagem 7">
            <a:extLst>
              <a:ext uri="{FF2B5EF4-FFF2-40B4-BE49-F238E27FC236}">
                <a16:creationId xmlns:a16="http://schemas.microsoft.com/office/drawing/2014/main" id="{58A0B0B2-08F9-DDF1-6238-E258FF2F27B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32324" y="0"/>
            <a:ext cx="2459675" cy="2397028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30" name="Espaço Reservado para Texto 13">
            <a:extLst>
              <a:ext uri="{FF2B5EF4-FFF2-40B4-BE49-F238E27FC236}">
                <a16:creationId xmlns:a16="http://schemas.microsoft.com/office/drawing/2014/main" id="{1F5FF656-95A1-9F51-7A05-917726CBF3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02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1" name="Espaço Reservado para Texto 13">
            <a:extLst>
              <a:ext uri="{FF2B5EF4-FFF2-40B4-BE49-F238E27FC236}">
                <a16:creationId xmlns:a16="http://schemas.microsoft.com/office/drawing/2014/main" id="{2EF2F186-691F-9611-97B7-C99A8A31B1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33629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2" name="Espaço Reservado para Texto 13">
            <a:extLst>
              <a:ext uri="{FF2B5EF4-FFF2-40B4-BE49-F238E27FC236}">
                <a16:creationId xmlns:a16="http://schemas.microsoft.com/office/drawing/2014/main" id="{4F7056BA-714A-E8C8-62A5-5C74CE2ED4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03756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3" name="Espaço Reservado para Texto 13">
            <a:extLst>
              <a:ext uri="{FF2B5EF4-FFF2-40B4-BE49-F238E27FC236}">
                <a16:creationId xmlns:a16="http://schemas.microsoft.com/office/drawing/2014/main" id="{F1B6DDB0-9C1C-97F7-6A20-61FE82B69C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3883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4" name="Espaço Reservado para Texto 13">
            <a:extLst>
              <a:ext uri="{FF2B5EF4-FFF2-40B4-BE49-F238E27FC236}">
                <a16:creationId xmlns:a16="http://schemas.microsoft.com/office/drawing/2014/main" id="{8C006494-4198-841C-C624-96FD857622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44010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5" name="Espaço Reservado para Texto 13">
            <a:extLst>
              <a:ext uri="{FF2B5EF4-FFF2-40B4-BE49-F238E27FC236}">
                <a16:creationId xmlns:a16="http://schemas.microsoft.com/office/drawing/2014/main" id="{1F63CEE3-653D-2D8D-99D2-7200E9B87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14137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6" name="Espaço Reservado para Texto 13">
            <a:extLst>
              <a:ext uri="{FF2B5EF4-FFF2-40B4-BE49-F238E27FC236}">
                <a16:creationId xmlns:a16="http://schemas.microsoft.com/office/drawing/2014/main" id="{93964EB6-54E5-0EA9-4B7A-B5DC005497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84264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7" name="Espaço Reservado para Texto 13">
            <a:extLst>
              <a:ext uri="{FF2B5EF4-FFF2-40B4-BE49-F238E27FC236}">
                <a16:creationId xmlns:a16="http://schemas.microsoft.com/office/drawing/2014/main" id="{E60C04CA-2D74-B02F-7B5E-BD90576FF2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28388" y="4925750"/>
            <a:ext cx="7850635" cy="13430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9FCA45CD-94A6-02B9-B8A1-92AA310172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043" y="300114"/>
            <a:ext cx="1239066" cy="1716300"/>
          </a:xfrm>
          <a:prstGeom prst="rect">
            <a:avLst/>
          </a:prstGeom>
        </p:spPr>
      </p:pic>
      <p:grpSp>
        <p:nvGrpSpPr>
          <p:cNvPr id="41" name="Agrupar 40">
            <a:extLst>
              <a:ext uri="{FF2B5EF4-FFF2-40B4-BE49-F238E27FC236}">
                <a16:creationId xmlns:a16="http://schemas.microsoft.com/office/drawing/2014/main" id="{187BDD94-6EE7-21B4-AFC7-9A6232DC2B72}"/>
              </a:ext>
            </a:extLst>
          </p:cNvPr>
          <p:cNvGrpSpPr/>
          <p:nvPr userDrawn="1"/>
        </p:nvGrpSpPr>
        <p:grpSpPr>
          <a:xfrm>
            <a:off x="279613" y="5136623"/>
            <a:ext cx="1020709" cy="1421263"/>
            <a:chOff x="-2700091" y="3552980"/>
            <a:chExt cx="1020709" cy="1421263"/>
          </a:xfrm>
        </p:grpSpPr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1D51BE93-9295-A4E0-3AD8-BA27F65D4917}"/>
                </a:ext>
              </a:extLst>
            </p:cNvPr>
            <p:cNvSpPr/>
            <p:nvPr/>
          </p:nvSpPr>
          <p:spPr>
            <a:xfrm>
              <a:off x="-2700091" y="3558229"/>
              <a:ext cx="346311" cy="346311"/>
            </a:xfrm>
            <a:custGeom>
              <a:avLst/>
              <a:gdLst>
                <a:gd name="connsiteX0" fmla="*/ 0 w 346311"/>
                <a:gd name="connsiteY0" fmla="*/ 0 h 346311"/>
                <a:gd name="connsiteX1" fmla="*/ 346312 w 346311"/>
                <a:gd name="connsiteY1" fmla="*/ 0 h 346311"/>
                <a:gd name="connsiteX2" fmla="*/ 346312 w 346311"/>
                <a:gd name="connsiteY2" fmla="*/ 346312 h 346311"/>
                <a:gd name="connsiteX3" fmla="*/ 0 w 346311"/>
                <a:gd name="connsiteY3" fmla="*/ 346312 h 346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311" h="346311">
                  <a:moveTo>
                    <a:pt x="0" y="0"/>
                  </a:moveTo>
                  <a:lnTo>
                    <a:pt x="346312" y="0"/>
                  </a:lnTo>
                  <a:lnTo>
                    <a:pt x="346312" y="346312"/>
                  </a:lnTo>
                  <a:lnTo>
                    <a:pt x="0" y="346312"/>
                  </a:lnTo>
                  <a:close/>
                </a:path>
              </a:pathLst>
            </a:custGeom>
            <a:solidFill>
              <a:srgbClr val="D3FF00"/>
            </a:solidFill>
            <a:ln w="36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D58987B6-2891-6D8E-0A64-618A8FA2F142}"/>
                </a:ext>
              </a:extLst>
            </p:cNvPr>
            <p:cNvSpPr/>
            <p:nvPr/>
          </p:nvSpPr>
          <p:spPr>
            <a:xfrm>
              <a:off x="-2025693" y="4627931"/>
              <a:ext cx="346311" cy="346311"/>
            </a:xfrm>
            <a:custGeom>
              <a:avLst/>
              <a:gdLst>
                <a:gd name="connsiteX0" fmla="*/ 0 w 346311"/>
                <a:gd name="connsiteY0" fmla="*/ 0 h 346311"/>
                <a:gd name="connsiteX1" fmla="*/ 346312 w 346311"/>
                <a:gd name="connsiteY1" fmla="*/ 0 h 346311"/>
                <a:gd name="connsiteX2" fmla="*/ 346312 w 346311"/>
                <a:gd name="connsiteY2" fmla="*/ 346312 h 346311"/>
                <a:gd name="connsiteX3" fmla="*/ 0 w 346311"/>
                <a:gd name="connsiteY3" fmla="*/ 346312 h 346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311" h="346311">
                  <a:moveTo>
                    <a:pt x="0" y="0"/>
                  </a:moveTo>
                  <a:lnTo>
                    <a:pt x="346312" y="0"/>
                  </a:lnTo>
                  <a:lnTo>
                    <a:pt x="346312" y="346312"/>
                  </a:lnTo>
                  <a:lnTo>
                    <a:pt x="0" y="346312"/>
                  </a:lnTo>
                  <a:close/>
                </a:path>
              </a:pathLst>
            </a:custGeom>
            <a:solidFill>
              <a:srgbClr val="000000"/>
            </a:solidFill>
            <a:ln w="36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FD1885FA-8AC8-22D5-37D2-35C84572A836}"/>
                </a:ext>
              </a:extLst>
            </p:cNvPr>
            <p:cNvSpPr/>
            <p:nvPr/>
          </p:nvSpPr>
          <p:spPr>
            <a:xfrm>
              <a:off x="-2699726" y="3552980"/>
              <a:ext cx="1019214" cy="1421263"/>
            </a:xfrm>
            <a:custGeom>
              <a:avLst/>
              <a:gdLst>
                <a:gd name="connsiteX0" fmla="*/ 0 w 1019214"/>
                <a:gd name="connsiteY0" fmla="*/ 1079144 h 1421263"/>
                <a:gd name="connsiteX1" fmla="*/ 0 w 1019214"/>
                <a:gd name="connsiteY1" fmla="*/ 1421264 h 1421263"/>
                <a:gd name="connsiteX2" fmla="*/ 274972 w 1019214"/>
                <a:gd name="connsiteY2" fmla="*/ 1421264 h 1421263"/>
                <a:gd name="connsiteX3" fmla="*/ 1019214 w 1019214"/>
                <a:gd name="connsiteY3" fmla="*/ 350540 h 1421263"/>
                <a:gd name="connsiteX4" fmla="*/ 1019214 w 1019214"/>
                <a:gd name="connsiteY4" fmla="*/ 0 h 1421263"/>
                <a:gd name="connsiteX5" fmla="*/ 744243 w 1019214"/>
                <a:gd name="connsiteY5" fmla="*/ 0 h 1421263"/>
                <a:gd name="connsiteX6" fmla="*/ 0 w 1019214"/>
                <a:gd name="connsiteY6" fmla="*/ 1079144 h 1421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9214" h="1421263">
                  <a:moveTo>
                    <a:pt x="0" y="1079144"/>
                  </a:moveTo>
                  <a:lnTo>
                    <a:pt x="0" y="1421264"/>
                  </a:lnTo>
                  <a:lnTo>
                    <a:pt x="274972" y="1421264"/>
                  </a:lnTo>
                  <a:lnTo>
                    <a:pt x="1019214" y="350540"/>
                  </a:lnTo>
                  <a:lnTo>
                    <a:pt x="1019214" y="0"/>
                  </a:lnTo>
                  <a:lnTo>
                    <a:pt x="744243" y="0"/>
                  </a:lnTo>
                  <a:lnTo>
                    <a:pt x="0" y="1079144"/>
                  </a:lnTo>
                  <a:close/>
                </a:path>
              </a:pathLst>
            </a:custGeom>
            <a:solidFill>
              <a:srgbClr val="D3FF00"/>
            </a:solidFill>
            <a:ln w="36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2734198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67CAD3C0-A0F5-D314-D183-7DA0099FBD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pic>
        <p:nvPicPr>
          <p:cNvPr id="2" name="Picture 19">
            <a:extLst>
              <a:ext uri="{FF2B5EF4-FFF2-40B4-BE49-F238E27FC236}">
                <a16:creationId xmlns:a16="http://schemas.microsoft.com/office/drawing/2014/main" id="{66810DF0-D596-2CDD-BB6F-3E5C170E34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11490"/>
            <a:ext cx="12192000" cy="6858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50D6DC11-C84C-965A-F902-47834394920E}"/>
              </a:ext>
            </a:extLst>
          </p:cNvPr>
          <p:cNvSpPr/>
          <p:nvPr userDrawn="1"/>
        </p:nvSpPr>
        <p:spPr>
          <a:xfrm>
            <a:off x="9051944" y="0"/>
            <a:ext cx="3140056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618ED8F-1987-9177-177B-216C65F0CB3F}"/>
              </a:ext>
            </a:extLst>
          </p:cNvPr>
          <p:cNvSpPr/>
          <p:nvPr userDrawn="1"/>
        </p:nvSpPr>
        <p:spPr>
          <a:xfrm flipH="1">
            <a:off x="-2" y="2397028"/>
            <a:ext cx="12192002" cy="3432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655CB64B-CD73-E71C-D675-3395CFDAE8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1196" y="4458049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448D02BC-35BF-BBEF-0467-54DA9B3D07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1323" y="4039301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1BF53574-74F2-9A42-EB1F-7543105307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1450" y="4458049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5A373D2B-65F9-FED9-57FC-6D9FA0976E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1577" y="4039301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A7817FAA-AA3B-FBE0-8788-7CFA7BB9A1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1704" y="4458049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57906CE5-F0C8-432D-14FD-18E8FC83E5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69947" y="1479129"/>
            <a:ext cx="1334980" cy="7814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11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0" name="Espaço Reservado para Texto 13">
            <a:extLst>
              <a:ext uri="{FF2B5EF4-FFF2-40B4-BE49-F238E27FC236}">
                <a16:creationId xmlns:a16="http://schemas.microsoft.com/office/drawing/2014/main" id="{1F5FF656-95A1-9F51-7A05-917726CBF3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1102" y="3969004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1" name="Espaço Reservado para Texto 13">
            <a:extLst>
              <a:ext uri="{FF2B5EF4-FFF2-40B4-BE49-F238E27FC236}">
                <a16:creationId xmlns:a16="http://schemas.microsoft.com/office/drawing/2014/main" id="{2EF2F186-691F-9611-97B7-C99A8A31B1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81229" y="3550256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2" name="Espaço Reservado para Texto 13">
            <a:extLst>
              <a:ext uri="{FF2B5EF4-FFF2-40B4-BE49-F238E27FC236}">
                <a16:creationId xmlns:a16="http://schemas.microsoft.com/office/drawing/2014/main" id="{4F7056BA-714A-E8C8-62A5-5C74CE2ED4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356" y="3969004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3" name="Espaço Reservado para Texto 13">
            <a:extLst>
              <a:ext uri="{FF2B5EF4-FFF2-40B4-BE49-F238E27FC236}">
                <a16:creationId xmlns:a16="http://schemas.microsoft.com/office/drawing/2014/main" id="{F1B6DDB0-9C1C-97F7-6A20-61FE82B69C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21483" y="3550256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4" name="Espaço Reservado para Texto 13">
            <a:extLst>
              <a:ext uri="{FF2B5EF4-FFF2-40B4-BE49-F238E27FC236}">
                <a16:creationId xmlns:a16="http://schemas.microsoft.com/office/drawing/2014/main" id="{8C006494-4198-841C-C624-96FD857622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91610" y="3969004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6" name="Espaço Reservado para Texto 13">
            <a:extLst>
              <a:ext uri="{FF2B5EF4-FFF2-40B4-BE49-F238E27FC236}">
                <a16:creationId xmlns:a16="http://schemas.microsoft.com/office/drawing/2014/main" id="{93964EB6-54E5-0EA9-4B7A-B5DC005497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69947" y="990084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11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42" name="Espaço Reservado para Texto 13">
            <a:extLst>
              <a:ext uri="{FF2B5EF4-FFF2-40B4-BE49-F238E27FC236}">
                <a16:creationId xmlns:a16="http://schemas.microsoft.com/office/drawing/2014/main" id="{2D3BBE5D-32A9-FF6C-1431-A2D850FF34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37983" y="3440490"/>
            <a:ext cx="2726756" cy="19776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B6B860A3-DCF4-9B86-9054-526C421322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7670" y="552646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9FA3C960-7694-A2B5-66F1-4894FC6623D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27669" y="1252785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EC09CA65-7E65-CFA4-80B5-781006BCB1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4350" y="6169874"/>
            <a:ext cx="908050" cy="34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0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31F0ED62-8B1F-801C-3802-5F9E6CF900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pic>
        <p:nvPicPr>
          <p:cNvPr id="11" name="logo_volta">
            <a:extLst>
              <a:ext uri="{FF2B5EF4-FFF2-40B4-BE49-F238E27FC236}">
                <a16:creationId xmlns:a16="http://schemas.microsoft.com/office/drawing/2014/main" id="{31189240-7F5F-1789-6B4A-E1B8685001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4344" y="1489968"/>
            <a:ext cx="3923309" cy="1491582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D4E2B53-847F-07CD-A2DB-0DD8EE487CE2}"/>
              </a:ext>
            </a:extLst>
          </p:cNvPr>
          <p:cNvSpPr/>
          <p:nvPr userDrawn="1"/>
        </p:nvSpPr>
        <p:spPr>
          <a:xfrm>
            <a:off x="0" y="3403676"/>
            <a:ext cx="12191998" cy="3454324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8F35BA6A-BE6B-BCDF-D31E-910C542F23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4969" y="3403676"/>
            <a:ext cx="3722058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www.afinz.com.br</a:t>
            </a:r>
          </a:p>
        </p:txBody>
      </p:sp>
      <p:pic>
        <p:nvPicPr>
          <p:cNvPr id="6" name="Graphic 13">
            <a:extLst>
              <a:ext uri="{FF2B5EF4-FFF2-40B4-BE49-F238E27FC236}">
                <a16:creationId xmlns:a16="http://schemas.microsoft.com/office/drawing/2014/main" id="{AFC11959-1626-02D2-DE83-570DC5C571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0646" y="4379343"/>
            <a:ext cx="1790704" cy="247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7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0 -0.0953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7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C3505-F2D1-4EC0-CE1E-2B526E27B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929C83-A309-BAB8-A847-7EAECFEC9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4886E1-EB5B-0AC7-57F0-BE46B9A71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EF13D-D82A-4657-93F0-D533D1999656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C852C3-2EA8-940A-6F73-10462AC78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F6652-33FC-222D-400D-474A5DB63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DA822-4022-46A9-96E1-6579E7351D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535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71DD88A-D3C8-0289-2EAA-2153EC43ABA8}"/>
              </a:ext>
            </a:extLst>
          </p:cNvPr>
          <p:cNvSpPr/>
          <p:nvPr userDrawn="1"/>
        </p:nvSpPr>
        <p:spPr>
          <a:xfrm>
            <a:off x="-727787" y="-1"/>
            <a:ext cx="345233" cy="345233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B3D6994-AD23-610B-923D-F97934CC3784}"/>
              </a:ext>
            </a:extLst>
          </p:cNvPr>
          <p:cNvSpPr/>
          <p:nvPr userDrawn="1"/>
        </p:nvSpPr>
        <p:spPr>
          <a:xfrm>
            <a:off x="-727787" y="418943"/>
            <a:ext cx="345233" cy="345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79BB3FB-4B1B-2D5D-9BBB-9E55C9B1E58B}"/>
              </a:ext>
            </a:extLst>
          </p:cNvPr>
          <p:cNvSpPr/>
          <p:nvPr userDrawn="1"/>
        </p:nvSpPr>
        <p:spPr>
          <a:xfrm>
            <a:off x="-727787" y="1256831"/>
            <a:ext cx="345233" cy="345233"/>
          </a:xfrm>
          <a:prstGeom prst="rect">
            <a:avLst/>
          </a:prstGeom>
          <a:solidFill>
            <a:srgbClr val="E74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1A8C193-B6D6-B809-4D3D-11E8DFCD986B}"/>
              </a:ext>
            </a:extLst>
          </p:cNvPr>
          <p:cNvSpPr/>
          <p:nvPr userDrawn="1"/>
        </p:nvSpPr>
        <p:spPr>
          <a:xfrm>
            <a:off x="-727787" y="1675775"/>
            <a:ext cx="345233" cy="345233"/>
          </a:xfrm>
          <a:prstGeom prst="rect">
            <a:avLst/>
          </a:prstGeom>
          <a:solidFill>
            <a:srgbClr val="E2E2E2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E42432B-E1C3-B26B-1629-40011DA847F8}"/>
              </a:ext>
            </a:extLst>
          </p:cNvPr>
          <p:cNvSpPr/>
          <p:nvPr userDrawn="1"/>
        </p:nvSpPr>
        <p:spPr>
          <a:xfrm>
            <a:off x="-727787" y="837887"/>
            <a:ext cx="345233" cy="345233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ED3663D-B53E-8D3B-19E0-5CF37F1D0B6F}"/>
              </a:ext>
            </a:extLst>
          </p:cNvPr>
          <p:cNvSpPr/>
          <p:nvPr userDrawn="1"/>
        </p:nvSpPr>
        <p:spPr>
          <a:xfrm>
            <a:off x="-727787" y="2094718"/>
            <a:ext cx="345233" cy="345233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1E2806-2AFF-5B94-5778-E677EEECBF91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76C900A-3B57-3A42-8275-51BA9FFC80C2}"/>
              </a:ext>
            </a:extLst>
          </p:cNvPr>
          <p:cNvSpPr/>
          <p:nvPr userDrawn="1"/>
        </p:nvSpPr>
        <p:spPr>
          <a:xfrm>
            <a:off x="-727787" y="2513661"/>
            <a:ext cx="345233" cy="345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63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8" r:id="rId3"/>
    <p:sldLayoutId id="2147483663" r:id="rId4"/>
    <p:sldLayoutId id="2147483650" r:id="rId5"/>
    <p:sldLayoutId id="2147483670" r:id="rId6"/>
    <p:sldLayoutId id="2147483669" r:id="rId7"/>
    <p:sldLayoutId id="2147483651" r:id="rId8"/>
    <p:sldLayoutId id="2147483652" r:id="rId9"/>
    <p:sldLayoutId id="2147483654" r:id="rId10"/>
    <p:sldLayoutId id="2147483655" r:id="rId11"/>
    <p:sldLayoutId id="2147483656" r:id="rId12"/>
    <p:sldLayoutId id="2147483657" r:id="rId13"/>
    <p:sldLayoutId id="2147483653" r:id="rId14"/>
    <p:sldLayoutId id="2147483666" r:id="rId15"/>
    <p:sldLayoutId id="2147483667" r:id="rId16"/>
    <p:sldLayoutId id="2147483658" r:id="rId17"/>
    <p:sldLayoutId id="2147483660" r:id="rId18"/>
    <p:sldLayoutId id="2147483661" r:id="rId19"/>
    <p:sldLayoutId id="2147483659" r:id="rId20"/>
    <p:sldLayoutId id="2147483662" r:id="rId21"/>
    <p:sldLayoutId id="2147483664" r:id="rId22"/>
    <p:sldLayoutId id="2147483671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view.relacionamento.afinz.com.br/?vawpToken=2CCIECJEDVOEVCKZROLCVZ2POE.130023&amp;utm_source=sfmc&amp;utm_medium=email&amp;utm_campaign=E-mail+1+-+Classic+%2b+Vibe+B2C&amp;utm_term=https%3a%2f%2fview.relacionamento.afinz.com.br%2f%3fvawpToken%3d%25%25tokenized_vawp_metadata%25%25&amp;utm_id=623447&amp;sfmc_id=24951043" TargetMode="Externa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view.relacionamento.afinz.com.br/?vawpToken=YTHEYPNNSH3EBOIH2OILQFEJWI.130027&amp;utm_source=sfmc&amp;utm_medium=email&amp;utm_campaign=E-mail+2+-+Classic+%2b+Vibe+B2C&amp;utm_term=https%3a%2f%2fview.relacionamento.afinz.com.br%2f%3fvawpToken%3d%25%25tokenized_vawp_metadata%25%25&amp;utm_id=623444&amp;sfmc_id=24367836" TargetMode="Externa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view.relacionamento.afinz.com.br/?vawpToken=SWJSKMEKDYKUNFA7SU6MS7PDMM.130028&amp;utm_source=sfmc&amp;utm_medium=email&amp;utm_campaign=E-mail+3+-+Classic+%2b+Vibe+B2C&amp;utm_term=https%3a%2f%2fview.relacionamento.afinz.com.br%2f%3fvawpToken%3d%25%25tokenized_vawp_metadata%25%25&amp;utm_id=623448&amp;sfmc_id=24951043" TargetMode="Externa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view.relacionamento.afinz.com.br/?vawpToken=BEJEVZ4KXIWEHIQ43ARK54VYEA.130022&amp;utm_source=sfmc&amp;utm_medium=email&amp;utm_campaign=E-mail+4+-+Classic+%2b+Vibe+B2C&amp;utm_term=https%3a%2f%2fview.relacionamento.afinz.com.br%2f%3fvawpToken%3d%25%25tokenized_vawp_metadata%25%25&amp;utm_id=623412&amp;sfmc_id=24367836" TargetMode="Externa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click.relacionamento.afinz.com.br/?qs=ABp7ImQiOjQ5NjgsInQiOjU1NzgsInMiOjEzfQANAAAAAADtfu2y5LsmBGMPWvIG_ic8-huIjSDvxJLN05H39AZX6mdJ9KF1KxfhlW-a3KjV8Cqm6nm0iz25FQL_3egPn_SpGzXi7UkIfhkD" TargetMode="Externa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view.relacionamento.afinz.com.br/?vawpToken=Y2KPO7JNGOJUBOPN5VWWXABP4A.130024&amp;utm_source=sfmc&amp;utm_medium=email&amp;utm_campaign=E-mail+6+-+Classic+%2b+Vibe+B2C&amp;utm_term=https%3a%2f%2fview.relacionamento.afinz.com.br%2f%3fvawpToken%3d%25%25tokenized_vawp_metadata%25%25&amp;utm_id=623485&amp;sfmc_id=24951043" TargetMode="Externa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view.relacionamento.afinz.com.br/?vawpToken=T4WWGWDDRHJUNAXOHM3SYNORZM.130021&amp;utm_source=sfmc&amp;utm_medium=email&amp;utm_campaign=E-mail+7+-+Classic+%2b+Vibe+B2C&amp;utm_term=https%3a%2f%2fview.relacionamento.afinz.com.br%2f%3fvawpToken%3d%25%25tokenized_vawp_metadata%25%25&amp;utm_id=623298&amp;sfmc_id=24367836" TargetMode="Externa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view.relacionamento.afinz.com.br/?vawpToken=HVCS5WALL4EEJIKMOSMDEO6P6I.130021&amp;utm_source=sfmc&amp;utm_medium=email&amp;utm_campaign=E-mail+8+-+Classic+%2b+Vibe+B2C&amp;utm_term=https%3a%2f%2fview.relacionamento.afinz.com.br%2f%3fvawpToken%3d%25%25tokenized_vawp_metadata%25%25&amp;utm_id=623386&amp;sfmc_id=24367836" TargetMode="Externa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E40A1759-EC4F-B5CA-88CA-13442C5AEB06}"/>
              </a:ext>
            </a:extLst>
          </p:cNvPr>
          <p:cNvSpPr txBox="1">
            <a:spLocks/>
          </p:cNvSpPr>
          <p:nvPr/>
        </p:nvSpPr>
        <p:spPr>
          <a:xfrm>
            <a:off x="950897" y="4570788"/>
            <a:ext cx="5749705" cy="69098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 err="1">
                <a:latin typeface="Lembra Light" panose="02010303060401050203" pitchFamily="50" charset="0"/>
              </a:rPr>
              <a:t>Vibe</a:t>
            </a:r>
            <a:r>
              <a:rPr lang="pt-BR" sz="2400" dirty="0">
                <a:latin typeface="Lembra Light" panose="02010303060401050203" pitchFamily="50" charset="0"/>
              </a:rPr>
              <a:t> 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F89DFB4-A84D-9135-3964-AC6C707B2243}"/>
              </a:ext>
            </a:extLst>
          </p:cNvPr>
          <p:cNvSpPr txBox="1">
            <a:spLocks/>
          </p:cNvSpPr>
          <p:nvPr/>
        </p:nvSpPr>
        <p:spPr>
          <a:xfrm>
            <a:off x="909031" y="3879804"/>
            <a:ext cx="6245102" cy="6909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>
              <a:lnSpc>
                <a:spcPts val="5000"/>
              </a:lnSpc>
              <a:spcBef>
                <a:spcPts val="0"/>
              </a:spcBef>
            </a:pPr>
            <a:r>
              <a:rPr lang="pt-BR" sz="4800" b="0" spc="-150" dirty="0">
                <a:latin typeface="Lembra XBold" panose="02010903060401050203" pitchFamily="50" charset="0"/>
              </a:rPr>
              <a:t>Régua de Comunicação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830AA4-B197-BE20-EC13-A948051EF230}"/>
              </a:ext>
            </a:extLst>
          </p:cNvPr>
          <p:cNvSpPr txBox="1">
            <a:spLocks/>
          </p:cNvSpPr>
          <p:nvPr/>
        </p:nvSpPr>
        <p:spPr>
          <a:xfrm>
            <a:off x="10133351" y="5952756"/>
            <a:ext cx="2058649" cy="69098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/>
              <a:t>Julho/2026</a:t>
            </a:r>
          </a:p>
        </p:txBody>
      </p:sp>
      <p:pic>
        <p:nvPicPr>
          <p:cNvPr id="9" name="Imagem 8" descr="Vibe">
            <a:extLst>
              <a:ext uri="{FF2B5EF4-FFF2-40B4-BE49-F238E27FC236}">
                <a16:creationId xmlns:a16="http://schemas.microsoft.com/office/drawing/2014/main" id="{A6027D2C-5AE9-AD0F-B189-D1E20BB73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240"/>
          <a:stretch>
            <a:fillRect/>
          </a:stretch>
        </p:blipFill>
        <p:spPr>
          <a:xfrm>
            <a:off x="407522" y="438720"/>
            <a:ext cx="2908092" cy="2476900"/>
          </a:xfrm>
          <a:prstGeom prst="rect">
            <a:avLst/>
          </a:prstGeom>
        </p:spPr>
      </p:pic>
      <p:pic>
        <p:nvPicPr>
          <p:cNvPr id="10" name="Imagem 9" descr="Vibe">
            <a:extLst>
              <a:ext uri="{FF2B5EF4-FFF2-40B4-BE49-F238E27FC236}">
                <a16:creationId xmlns:a16="http://schemas.microsoft.com/office/drawing/2014/main" id="{7A13EA50-348C-E170-2AD3-527955396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430" y="2731657"/>
            <a:ext cx="5792420" cy="3535428"/>
          </a:xfrm>
          <a:prstGeom prst="rect">
            <a:avLst/>
          </a:prstGeom>
        </p:spPr>
      </p:pic>
      <p:pic>
        <p:nvPicPr>
          <p:cNvPr id="11" name="Imagem 10" descr="Vibe">
            <a:extLst>
              <a:ext uri="{FF2B5EF4-FFF2-40B4-BE49-F238E27FC236}">
                <a16:creationId xmlns:a16="http://schemas.microsoft.com/office/drawing/2014/main" id="{EC57ACC0-F3A4-D3D0-384F-6823F492A9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6253"/>
          <a:stretch>
            <a:fillRect/>
          </a:stretch>
        </p:blipFill>
        <p:spPr>
          <a:xfrm>
            <a:off x="8119308" y="4690691"/>
            <a:ext cx="2470663" cy="2933333"/>
          </a:xfrm>
          <a:prstGeom prst="rect">
            <a:avLst/>
          </a:prstGeom>
        </p:spPr>
      </p:pic>
      <p:pic>
        <p:nvPicPr>
          <p:cNvPr id="13" name="Imagem 12" descr="Vibe">
            <a:extLst>
              <a:ext uri="{FF2B5EF4-FFF2-40B4-BE49-F238E27FC236}">
                <a16:creationId xmlns:a16="http://schemas.microsoft.com/office/drawing/2014/main" id="{C4D17B8D-134F-A029-FF22-6543EBB3FB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288" r="75628" b="32248"/>
          <a:stretch>
            <a:fillRect/>
          </a:stretch>
        </p:blipFill>
        <p:spPr>
          <a:xfrm>
            <a:off x="10434373" y="85564"/>
            <a:ext cx="1411730" cy="1289154"/>
          </a:xfrm>
          <a:prstGeom prst="rect">
            <a:avLst/>
          </a:prstGeom>
        </p:spPr>
      </p:pic>
      <p:pic>
        <p:nvPicPr>
          <p:cNvPr id="15" name="Imagem 14" descr="Vibe">
            <a:extLst>
              <a:ext uri="{FF2B5EF4-FFF2-40B4-BE49-F238E27FC236}">
                <a16:creationId xmlns:a16="http://schemas.microsoft.com/office/drawing/2014/main" id="{C7ABD4D9-6A97-2B30-9464-17B517DFE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288" r="75628" b="32248"/>
          <a:stretch>
            <a:fillRect/>
          </a:stretch>
        </p:blipFill>
        <p:spPr>
          <a:xfrm>
            <a:off x="8585965" y="648941"/>
            <a:ext cx="1411730" cy="1289154"/>
          </a:xfrm>
          <a:prstGeom prst="rect">
            <a:avLst/>
          </a:prstGeom>
        </p:spPr>
      </p:pic>
      <p:pic>
        <p:nvPicPr>
          <p:cNvPr id="16" name="Imagem 15" descr="Vibe">
            <a:extLst>
              <a:ext uri="{FF2B5EF4-FFF2-40B4-BE49-F238E27FC236}">
                <a16:creationId xmlns:a16="http://schemas.microsoft.com/office/drawing/2014/main" id="{7CD64B33-8C3D-0FCD-078B-388F3A191E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8637"/>
          <a:stretch>
            <a:fillRect/>
          </a:stretch>
        </p:blipFill>
        <p:spPr>
          <a:xfrm>
            <a:off x="5768639" y="483690"/>
            <a:ext cx="2380648" cy="273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23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7E5D8-BB2B-959D-4A65-8EEC4F6D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070B2B2-3ABD-B5C2-5E08-5B03475E1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ABD2FAB6-1CE8-A27D-1505-8F66C07BE6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063351"/>
            <a:ext cx="6096001" cy="2731297"/>
          </a:xfrm>
          <a:prstGeom prst="rect">
            <a:avLst/>
          </a:prstGeom>
          <a:effectLst/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088DFC8-27ED-B657-3C82-F3C8776CECDB}"/>
              </a:ext>
            </a:extLst>
          </p:cNvPr>
          <p:cNvSpPr/>
          <p:nvPr/>
        </p:nvSpPr>
        <p:spPr>
          <a:xfrm>
            <a:off x="0" y="2063351"/>
            <a:ext cx="6370983" cy="273129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006550A-2951-606B-B075-9DC99EEADD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0229" y="6293668"/>
            <a:ext cx="908050" cy="344695"/>
          </a:xfrm>
          <a:prstGeom prst="rect">
            <a:avLst/>
          </a:prstGeom>
        </p:spPr>
      </p:pic>
      <p:sp>
        <p:nvSpPr>
          <p:cNvPr id="3" name="TextBox 13">
            <a:extLst>
              <a:ext uri="{FF2B5EF4-FFF2-40B4-BE49-F238E27FC236}">
                <a16:creationId xmlns:a16="http://schemas.microsoft.com/office/drawing/2014/main" id="{A12B0558-C3B8-90BA-94EF-DF5602D36215}"/>
              </a:ext>
            </a:extLst>
          </p:cNvPr>
          <p:cNvSpPr txBox="1"/>
          <p:nvPr/>
        </p:nvSpPr>
        <p:spPr>
          <a:xfrm>
            <a:off x="473852" y="2295612"/>
            <a:ext cx="5148889" cy="226677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lnSpc>
                <a:spcPct val="85000"/>
              </a:lnSpc>
              <a:spcBef>
                <a:spcPts val="60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6000" spc="-300" dirty="0">
                <a:solidFill>
                  <a:srgbClr val="00C6CC"/>
                </a:solidFill>
                <a:latin typeface="Lembra XBold"/>
              </a:rPr>
              <a:t>Régua de Comunicação</a:t>
            </a:r>
          </a:p>
          <a:p>
            <a:pPr>
              <a:lnSpc>
                <a:spcPct val="85000"/>
              </a:lnSpc>
              <a:spcBef>
                <a:spcPts val="60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3600" spc="-300" dirty="0">
                <a:solidFill>
                  <a:srgbClr val="00C6CC"/>
                </a:solidFill>
                <a:latin typeface="Lembra XBold"/>
              </a:rPr>
              <a:t>Topo de Funil  - B2C</a:t>
            </a:r>
          </a:p>
        </p:txBody>
      </p:sp>
    </p:spTree>
    <p:extLst>
      <p:ext uri="{BB962C8B-B14F-4D97-AF65-F5344CB8AC3E}">
        <p14:creationId xmlns:p14="http://schemas.microsoft.com/office/powerpoint/2010/main" val="2220709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16AE-B7FF-AD9E-B092-F42003F1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A4CDBE01-16A1-0089-4A37-0125233288E5}"/>
              </a:ext>
            </a:extLst>
          </p:cNvPr>
          <p:cNvSpPr txBox="1"/>
          <p:nvPr/>
        </p:nvSpPr>
        <p:spPr>
          <a:xfrm>
            <a:off x="1034323" y="616807"/>
            <a:ext cx="5447981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1">
                <a:latin typeface="Lembra XBold"/>
              </a:rPr>
              <a:t>Régua de Aquisição - B2C</a:t>
            </a:r>
          </a:p>
          <a:p>
            <a:r>
              <a:rPr lang="pt-BR" sz="2400" b="1">
                <a:latin typeface="Lembra XBold"/>
                <a:ea typeface="Calibri"/>
                <a:cs typeface="Calibri"/>
              </a:rPr>
              <a:t>Topo de Funil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2AE7257-DC2F-0DBD-4FE8-9E2889976AFC}"/>
              </a:ext>
            </a:extLst>
          </p:cNvPr>
          <p:cNvSpPr txBox="1"/>
          <p:nvPr/>
        </p:nvSpPr>
        <p:spPr>
          <a:xfrm>
            <a:off x="1035170" y="2537605"/>
            <a:ext cx="427007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Assunto:</a:t>
            </a:r>
            <a:r>
              <a:rPr lang="pt-BR" sz="16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pt-BR" sz="1600">
                <a:solidFill>
                  <a:srgbClr val="000000"/>
                </a:solidFill>
                <a:ea typeface="+mn-lt"/>
                <a:cs typeface="+mn-lt"/>
              </a:rPr>
              <a:t>Peça seu cartão </a:t>
            </a:r>
            <a:r>
              <a:rPr lang="pt-BR" sz="1600" err="1">
                <a:solidFill>
                  <a:srgbClr val="000000"/>
                </a:solidFill>
                <a:ea typeface="+mn-lt"/>
                <a:cs typeface="+mn-lt"/>
              </a:rPr>
              <a:t>Afinz</a:t>
            </a:r>
            <a:r>
              <a:rPr lang="pt-BR" sz="1600">
                <a:solidFill>
                  <a:srgbClr val="000000"/>
                </a:solidFill>
                <a:ea typeface="+mn-lt"/>
                <a:cs typeface="+mn-lt"/>
              </a:rPr>
              <a:t> e concorra a R$100 mil todo mês!</a:t>
            </a:r>
            <a:endParaRPr lang="pt-BR" sz="1600">
              <a:ea typeface="Calibri"/>
              <a:cs typeface="Calibri"/>
            </a:endParaRPr>
          </a:p>
          <a:p>
            <a:endParaRPr lang="pt-BR" sz="1600">
              <a:ea typeface="Calibri"/>
              <a:cs typeface="Calibri"/>
            </a:endParaRPr>
          </a:p>
          <a:p>
            <a:r>
              <a:rPr lang="pt-BR" sz="1600" b="1" err="1">
                <a:ea typeface="Calibri"/>
                <a:cs typeface="Calibri"/>
              </a:rPr>
              <a:t>Pré</a:t>
            </a:r>
            <a:r>
              <a:rPr lang="pt-BR" sz="1600" b="1">
                <a:ea typeface="Calibri"/>
                <a:cs typeface="Calibri"/>
              </a:rPr>
              <a:t>-cabeçalho: </a:t>
            </a:r>
            <a:r>
              <a:rPr lang="pt-BR" sz="1600">
                <a:ea typeface="+mn-lt"/>
                <a:cs typeface="+mn-lt"/>
              </a:rPr>
              <a:t>Aproveite os descontos incríveis nas melhores marcas.</a:t>
            </a:r>
          </a:p>
          <a:p>
            <a:endParaRPr lang="pt-BR" sz="1600">
              <a:ea typeface="+mn-lt"/>
              <a:cs typeface="+mn-lt"/>
            </a:endParaRPr>
          </a:p>
          <a:p>
            <a:r>
              <a:rPr lang="pt-BR" sz="1600" b="1">
                <a:ea typeface="+mn-lt"/>
                <a:cs typeface="+mn-lt"/>
              </a:rPr>
              <a:t>Caminho do e-mail no SF: </a:t>
            </a:r>
            <a:r>
              <a:rPr lang="pt-BR" sz="1600" err="1">
                <a:ea typeface="+mn-lt"/>
                <a:cs typeface="+mn-lt"/>
              </a:rPr>
              <a:t>Content</a:t>
            </a:r>
            <a:r>
              <a:rPr lang="pt-BR" sz="1600">
                <a:ea typeface="+mn-lt"/>
                <a:cs typeface="+mn-lt"/>
              </a:rPr>
              <a:t> </a:t>
            </a:r>
            <a:r>
              <a:rPr lang="pt-BR" sz="1600" err="1">
                <a:ea typeface="+mn-lt"/>
                <a:cs typeface="+mn-lt"/>
              </a:rPr>
              <a:t>Builder</a:t>
            </a:r>
            <a:r>
              <a:rPr lang="pt-BR" sz="1600">
                <a:ea typeface="+mn-lt"/>
                <a:cs typeface="+mn-lt"/>
              </a:rPr>
              <a:t>\2026\Lançamento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\AQUISIÇÃO - TOPO DE FUNIL\B2C\E-mail 1 - Classic +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 B2C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85D6582-FDAD-4514-9EFA-06226D9ECBBB}"/>
              </a:ext>
            </a:extLst>
          </p:cNvPr>
          <p:cNvSpPr txBox="1"/>
          <p:nvPr/>
        </p:nvSpPr>
        <p:spPr>
          <a:xfrm>
            <a:off x="1035169" y="5226169"/>
            <a:ext cx="3910641" cy="13080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Link do e-mail: </a:t>
            </a:r>
            <a:r>
              <a:rPr lang="pt-BR" sz="1050">
                <a:solidFill>
                  <a:srgbClr val="000000"/>
                </a:solidFill>
                <a:ea typeface="+mn-lt"/>
                <a:cs typeface="+mn-lt"/>
                <a:hlinkClick r:id="rId2"/>
              </a:rPr>
              <a:t>view.relacionamento.afinz.com.br/?vawpToken=2CCIECJEDVOEVCKZROLCVZ2POE.130023&amp;utm_source=sfmc&amp;utm_medium=email&amp;utm_campaign=E-mail+1+-+Classic+%2b+Vibe+B2C&amp;utm_term=https%3a%2f%2fview.relacionamento.afinz.com.br%2f%3fvawpToken%3d%%tokenized_vawp_metadata%%&amp;utm_id=623447&amp;sfmc_id=24951043</a:t>
            </a:r>
            <a:endParaRPr lang="pt-BR" sz="1200">
              <a:ea typeface="Calibri"/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41217E-BC99-33BD-3E41-5687A4CACD0A}"/>
              </a:ext>
            </a:extLst>
          </p:cNvPr>
          <p:cNvSpPr txBox="1"/>
          <p:nvPr/>
        </p:nvSpPr>
        <p:spPr>
          <a:xfrm>
            <a:off x="1035168" y="1962509"/>
            <a:ext cx="38675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>
                <a:solidFill>
                  <a:srgbClr val="000000"/>
                </a:solidFill>
                <a:latin typeface="Calibri"/>
              </a:rPr>
              <a:t>E-mail 1</a:t>
            </a:r>
            <a:endParaRPr lang="pt-BR" sz="2000">
              <a:ea typeface="Calibri"/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FCD6C0B-0CA3-4A66-0EF2-388AAEDD1200}"/>
              </a:ext>
            </a:extLst>
          </p:cNvPr>
          <p:cNvSpPr txBox="1"/>
          <p:nvPr/>
        </p:nvSpPr>
        <p:spPr>
          <a:xfrm>
            <a:off x="9402792" y="2365076"/>
            <a:ext cx="227162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ea typeface="Calibri"/>
                <a:cs typeface="Calibri"/>
              </a:rPr>
              <a:t>Atualizado em 14/08/26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900267-11E0-4F16-830D-31D157DC2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949" y="1712702"/>
            <a:ext cx="25124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65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832EE-5B99-F380-CB2B-780785F9C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853D0B-319A-7FDE-848E-D88BEB75AD81}"/>
              </a:ext>
            </a:extLst>
          </p:cNvPr>
          <p:cNvSpPr txBox="1"/>
          <p:nvPr/>
        </p:nvSpPr>
        <p:spPr>
          <a:xfrm>
            <a:off x="1034323" y="616807"/>
            <a:ext cx="5447981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1">
                <a:latin typeface="Lembra XBold"/>
              </a:rPr>
              <a:t>Régua de Aquisição - B2C</a:t>
            </a:r>
          </a:p>
          <a:p>
            <a:r>
              <a:rPr lang="pt-BR" sz="2400" b="1">
                <a:latin typeface="Lembra XBold"/>
                <a:ea typeface="Calibri"/>
                <a:cs typeface="Calibri"/>
              </a:rPr>
              <a:t>Topo de Funil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1129E33-C409-8DDB-2D6A-9B363FCD1222}"/>
              </a:ext>
            </a:extLst>
          </p:cNvPr>
          <p:cNvSpPr txBox="1"/>
          <p:nvPr/>
        </p:nvSpPr>
        <p:spPr>
          <a:xfrm>
            <a:off x="1035170" y="2695755"/>
            <a:ext cx="428445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Assunto:</a:t>
            </a:r>
            <a:r>
              <a:rPr lang="pt-BR" sz="16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pt-BR" sz="1600">
                <a:solidFill>
                  <a:srgbClr val="000000"/>
                </a:solidFill>
                <a:ea typeface="+mn-lt"/>
                <a:cs typeface="+mn-lt"/>
              </a:rPr>
              <a:t>GANHE Créditos </a:t>
            </a:r>
            <a:r>
              <a:rPr lang="pt-BR" sz="1600" err="1">
                <a:solidFill>
                  <a:srgbClr val="000000"/>
                </a:solidFill>
                <a:ea typeface="+mn-lt"/>
                <a:cs typeface="+mn-lt"/>
              </a:rPr>
              <a:t>Vibe</a:t>
            </a:r>
            <a:r>
              <a:rPr lang="pt-BR" sz="1600">
                <a:solidFill>
                  <a:srgbClr val="000000"/>
                </a:solidFill>
                <a:ea typeface="+mn-lt"/>
                <a:cs typeface="+mn-lt"/>
              </a:rPr>
              <a:t> com o cartão </a:t>
            </a:r>
            <a:r>
              <a:rPr lang="pt-BR" sz="1600" err="1">
                <a:solidFill>
                  <a:srgbClr val="000000"/>
                </a:solidFill>
                <a:ea typeface="+mn-lt"/>
                <a:cs typeface="+mn-lt"/>
              </a:rPr>
              <a:t>Afinz</a:t>
            </a:r>
            <a:r>
              <a:rPr lang="pt-BR" sz="1600">
                <a:solidFill>
                  <a:srgbClr val="000000"/>
                </a:solidFill>
                <a:ea typeface="+mn-lt"/>
                <a:cs typeface="+mn-lt"/>
              </a:rPr>
              <a:t> Visa! 💳</a:t>
            </a:r>
            <a:endParaRPr lang="pt-BR" sz="1600">
              <a:ea typeface="+mn-lt"/>
              <a:cs typeface="+mn-lt"/>
            </a:endParaRPr>
          </a:p>
          <a:p>
            <a:endParaRPr lang="pt-BR" sz="1600">
              <a:ea typeface="Calibri"/>
              <a:cs typeface="Calibri"/>
            </a:endParaRPr>
          </a:p>
          <a:p>
            <a:r>
              <a:rPr lang="pt-BR" sz="1600" b="1" err="1">
                <a:ea typeface="Calibri"/>
                <a:cs typeface="Calibri"/>
              </a:rPr>
              <a:t>Pré</a:t>
            </a:r>
            <a:r>
              <a:rPr lang="pt-BR" sz="1600" b="1">
                <a:ea typeface="Calibri"/>
                <a:cs typeface="Calibri"/>
              </a:rPr>
              <a:t>-cabeçalho: </a:t>
            </a:r>
            <a:r>
              <a:rPr lang="pt-BR" sz="1600">
                <a:ea typeface="+mn-lt"/>
                <a:cs typeface="+mn-lt"/>
              </a:rPr>
              <a:t>Peça seu cartão e tenha descontos em cinema, delivery e muito mais!</a:t>
            </a:r>
          </a:p>
          <a:p>
            <a:endParaRPr lang="pt-BR" sz="1600">
              <a:ea typeface="+mn-lt"/>
              <a:cs typeface="+mn-lt"/>
            </a:endParaRPr>
          </a:p>
          <a:p>
            <a:r>
              <a:rPr lang="pt-BR" sz="1600" b="1">
                <a:ea typeface="+mn-lt"/>
                <a:cs typeface="+mn-lt"/>
              </a:rPr>
              <a:t>Caminho do e-mail no SF: </a:t>
            </a:r>
            <a:r>
              <a:rPr lang="pt-BR" sz="1600" err="1">
                <a:ea typeface="+mn-lt"/>
                <a:cs typeface="+mn-lt"/>
              </a:rPr>
              <a:t>Content</a:t>
            </a:r>
            <a:r>
              <a:rPr lang="pt-BR" sz="1600">
                <a:ea typeface="+mn-lt"/>
                <a:cs typeface="+mn-lt"/>
              </a:rPr>
              <a:t> </a:t>
            </a:r>
            <a:r>
              <a:rPr lang="pt-BR" sz="1600" err="1">
                <a:ea typeface="+mn-lt"/>
                <a:cs typeface="+mn-lt"/>
              </a:rPr>
              <a:t>Builder</a:t>
            </a:r>
            <a:r>
              <a:rPr lang="pt-BR" sz="1600">
                <a:ea typeface="+mn-lt"/>
                <a:cs typeface="+mn-lt"/>
              </a:rPr>
              <a:t>\2026\Lançamento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\AQUISIÇÃO - TOPO DE FUNIL\B2C\E-mail 2 - Classic +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 B2C</a:t>
            </a:r>
            <a:endParaRPr lang="pt-BR" sz="1600" err="1">
              <a:ea typeface="+mn-lt"/>
              <a:cs typeface="+mn-l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0DD3AB5-1178-5D34-E47F-68CBBF636E67}"/>
              </a:ext>
            </a:extLst>
          </p:cNvPr>
          <p:cNvSpPr txBox="1"/>
          <p:nvPr/>
        </p:nvSpPr>
        <p:spPr>
          <a:xfrm>
            <a:off x="1121432" y="5355565"/>
            <a:ext cx="4284453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Link do e-mail: </a:t>
            </a:r>
            <a:r>
              <a:rPr lang="pt-BR" sz="1050">
                <a:solidFill>
                  <a:srgbClr val="000000"/>
                </a:solidFill>
                <a:ea typeface="+mn-lt"/>
                <a:cs typeface="+mn-lt"/>
                <a:hlinkClick r:id="rId2"/>
              </a:rPr>
              <a:t>view.relacionamento.afinz.com.br/?vawpToken=YTHEYPNNSH3EBOIH2OILQFEJWI.130027&amp;utm_source=sfmc&amp;utm_medium=email&amp;utm_campaign=E-mail+2+-+Classic+%2b+Vibe+B2C&amp;utm_term=https%3a%2f%2fview.relacionamento.afinz.com.br%2f%3fvawpToken%3d%%tokenized_vawp_metadata%%&amp;utm_id=623444&amp;sfmc_id=24367836</a:t>
            </a:r>
            <a:endParaRPr lang="pt-BR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6CD56F-A284-67DC-892E-D887295862D1}"/>
              </a:ext>
            </a:extLst>
          </p:cNvPr>
          <p:cNvSpPr txBox="1"/>
          <p:nvPr/>
        </p:nvSpPr>
        <p:spPr>
          <a:xfrm>
            <a:off x="1121432" y="2163792"/>
            <a:ext cx="38675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>
                <a:solidFill>
                  <a:srgbClr val="000000"/>
                </a:solidFill>
                <a:latin typeface="Calibri"/>
              </a:rPr>
              <a:t>E-mail 2</a:t>
            </a:r>
            <a:endParaRPr lang="pt-BR" sz="2000">
              <a:ea typeface="Calibri"/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15AC03A-2DA3-4F1F-DE09-8F751213D60A}"/>
              </a:ext>
            </a:extLst>
          </p:cNvPr>
          <p:cNvSpPr txBox="1"/>
          <p:nvPr/>
        </p:nvSpPr>
        <p:spPr>
          <a:xfrm>
            <a:off x="9402792" y="2365076"/>
            <a:ext cx="227162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ea typeface="Calibri"/>
                <a:cs typeface="Calibri"/>
              </a:rPr>
              <a:t>Atualizado em 14/08/26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35C750-CB00-2E51-E158-E49DABB54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967" y="1722138"/>
            <a:ext cx="2541198" cy="515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32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7E6E-2C8C-26F8-3CFF-D1ABAE0B1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F02433F5-7D68-E74F-456F-7D5C9C2FE808}"/>
              </a:ext>
            </a:extLst>
          </p:cNvPr>
          <p:cNvSpPr txBox="1"/>
          <p:nvPr/>
        </p:nvSpPr>
        <p:spPr>
          <a:xfrm>
            <a:off x="1034323" y="616807"/>
            <a:ext cx="5447981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1">
                <a:latin typeface="Lembra XBold"/>
              </a:rPr>
              <a:t>Régua de Aquisição - B2C</a:t>
            </a:r>
          </a:p>
          <a:p>
            <a:r>
              <a:rPr lang="pt-BR" sz="2400" b="1">
                <a:latin typeface="Lembra XBold"/>
                <a:ea typeface="Calibri"/>
                <a:cs typeface="Calibri"/>
              </a:rPr>
              <a:t>Topo de Funil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D254239-2E28-5734-D87A-E70005A3FA86}"/>
              </a:ext>
            </a:extLst>
          </p:cNvPr>
          <p:cNvSpPr txBox="1"/>
          <p:nvPr/>
        </p:nvSpPr>
        <p:spPr>
          <a:xfrm>
            <a:off x="1107057" y="2465717"/>
            <a:ext cx="3551208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Assunto:</a:t>
            </a:r>
            <a:r>
              <a:rPr lang="pt-BR" sz="16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pt-BR" sz="1600">
                <a:solidFill>
                  <a:srgbClr val="000000"/>
                </a:solidFill>
                <a:ea typeface="+mn-lt"/>
                <a:cs typeface="+mn-lt"/>
              </a:rPr>
              <a:t>Concorra a R$100 MIL todo mês com o cartão </a:t>
            </a:r>
            <a:r>
              <a:rPr lang="pt-BR" sz="1600" err="1">
                <a:solidFill>
                  <a:srgbClr val="000000"/>
                </a:solidFill>
                <a:ea typeface="+mn-lt"/>
                <a:cs typeface="+mn-lt"/>
              </a:rPr>
              <a:t>Afinz</a:t>
            </a:r>
            <a:r>
              <a:rPr lang="pt-BR" sz="1600">
                <a:solidFill>
                  <a:srgbClr val="000000"/>
                </a:solidFill>
                <a:ea typeface="+mn-lt"/>
                <a:cs typeface="+mn-lt"/>
              </a:rPr>
              <a:t>!</a:t>
            </a:r>
            <a:endParaRPr lang="pt-BR" sz="1600">
              <a:ea typeface="+mn-lt"/>
              <a:cs typeface="+mn-lt"/>
            </a:endParaRPr>
          </a:p>
          <a:p>
            <a:endParaRPr lang="pt-BR" sz="1600">
              <a:ea typeface="Calibri"/>
              <a:cs typeface="Calibri"/>
            </a:endParaRPr>
          </a:p>
          <a:p>
            <a:r>
              <a:rPr lang="pt-BR" sz="1600" b="1" err="1">
                <a:ea typeface="Calibri"/>
                <a:cs typeface="Calibri"/>
              </a:rPr>
              <a:t>Pré</a:t>
            </a:r>
            <a:r>
              <a:rPr lang="pt-BR" sz="1600" b="1">
                <a:ea typeface="Calibri"/>
                <a:cs typeface="Calibri"/>
              </a:rPr>
              <a:t>-cabeçalho: </a:t>
            </a:r>
            <a:r>
              <a:rPr lang="pt-BR" sz="1600">
                <a:ea typeface="+mn-lt"/>
                <a:cs typeface="+mn-lt"/>
              </a:rPr>
              <a:t>Peça seu cartão e ganhe R$100 em créditos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 na 1ª compra.</a:t>
            </a:r>
          </a:p>
          <a:p>
            <a:endParaRPr lang="pt-BR" sz="1600">
              <a:ea typeface="+mn-lt"/>
              <a:cs typeface="+mn-lt"/>
            </a:endParaRPr>
          </a:p>
          <a:p>
            <a:r>
              <a:rPr lang="pt-BR" sz="1600" b="1">
                <a:ea typeface="+mn-lt"/>
                <a:cs typeface="+mn-lt"/>
              </a:rPr>
              <a:t>Caminho do e-mail no SF: </a:t>
            </a:r>
            <a:r>
              <a:rPr lang="pt-BR" sz="1600" err="1">
                <a:ea typeface="+mn-lt"/>
                <a:cs typeface="+mn-lt"/>
              </a:rPr>
              <a:t>Content</a:t>
            </a:r>
            <a:r>
              <a:rPr lang="pt-BR" sz="1600">
                <a:ea typeface="+mn-lt"/>
                <a:cs typeface="+mn-lt"/>
              </a:rPr>
              <a:t> </a:t>
            </a:r>
            <a:r>
              <a:rPr lang="pt-BR" sz="1600" err="1">
                <a:ea typeface="+mn-lt"/>
                <a:cs typeface="+mn-lt"/>
              </a:rPr>
              <a:t>Builder</a:t>
            </a:r>
            <a:r>
              <a:rPr lang="pt-BR" sz="1600">
                <a:ea typeface="+mn-lt"/>
                <a:cs typeface="+mn-lt"/>
              </a:rPr>
              <a:t>\2026\Lançamento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\AQUISIÇÃO - TOPO DE FUNIL\B2C\E-mail 3 - Classic +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 B2C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55334E-CAA9-A976-9D4B-2C6F0938F8DE}"/>
              </a:ext>
            </a:extLst>
          </p:cNvPr>
          <p:cNvSpPr txBox="1"/>
          <p:nvPr/>
        </p:nvSpPr>
        <p:spPr>
          <a:xfrm>
            <a:off x="1035169" y="5226169"/>
            <a:ext cx="3910641" cy="14311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Link do e-mail: </a:t>
            </a:r>
            <a:r>
              <a:rPr lang="pt-BR" sz="1050">
                <a:solidFill>
                  <a:srgbClr val="000000"/>
                </a:solidFill>
                <a:ea typeface="+mn-lt"/>
                <a:cs typeface="+mn-lt"/>
                <a:hlinkClick r:id="rId2"/>
              </a:rPr>
              <a:t>view.relacionamento.afinz.com.br/?vawpToken=SWJSKMEKDYKUNFA7SU6MS7PDMM.130028&amp;utm_source=sfmc&amp;utm_medium=email&amp;utm_campaign=E-mail+3+-+Classic+%2b+Vibe+B2C&amp;utm_term=https%3a%2f%2fview.relacionamento.afinz.com.br%2f%3fvawpToken%3d%%tokenized_vawp_metadata%%&amp;utm_id=623448&amp;sfmc_id=24951043</a:t>
            </a:r>
            <a:endParaRPr lang="pt-BR" sz="1050">
              <a:ea typeface="Calibri"/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CA24BBD-F6B9-8192-1A65-DF7F9AE4775C}"/>
              </a:ext>
            </a:extLst>
          </p:cNvPr>
          <p:cNvSpPr txBox="1"/>
          <p:nvPr/>
        </p:nvSpPr>
        <p:spPr>
          <a:xfrm>
            <a:off x="1121432" y="1933754"/>
            <a:ext cx="38675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>
                <a:solidFill>
                  <a:srgbClr val="000000"/>
                </a:solidFill>
                <a:latin typeface="Calibri"/>
              </a:rPr>
              <a:t>E-mail 3</a:t>
            </a:r>
            <a:endParaRPr lang="pt-BR" sz="2000">
              <a:ea typeface="Calibri"/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B31C6AD-2926-A677-AD6D-E2D546673829}"/>
              </a:ext>
            </a:extLst>
          </p:cNvPr>
          <p:cNvSpPr txBox="1"/>
          <p:nvPr/>
        </p:nvSpPr>
        <p:spPr>
          <a:xfrm>
            <a:off x="9402792" y="2365076"/>
            <a:ext cx="227162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ea typeface="Calibri"/>
                <a:cs typeface="Calibri"/>
              </a:rPr>
              <a:t>Atualizado em 14/08/26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F9F2E26-3B65-EFB3-0FA7-D23C5E819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258" y="1713332"/>
            <a:ext cx="2139710" cy="514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658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66D66-7165-98FF-6DF0-394FC78B9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7FA3A1-432E-059C-7A02-BCF37EE25FE5}"/>
              </a:ext>
            </a:extLst>
          </p:cNvPr>
          <p:cNvSpPr txBox="1"/>
          <p:nvPr/>
        </p:nvSpPr>
        <p:spPr>
          <a:xfrm>
            <a:off x="1034323" y="616807"/>
            <a:ext cx="5447981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1">
                <a:latin typeface="Lembra XBold"/>
              </a:rPr>
              <a:t>Régua de Aquisição - B2C</a:t>
            </a:r>
          </a:p>
          <a:p>
            <a:r>
              <a:rPr lang="pt-BR" sz="2400" b="1">
                <a:latin typeface="Lembra XBold"/>
                <a:ea typeface="Calibri"/>
                <a:cs typeface="Calibri"/>
              </a:rPr>
              <a:t>Topo de Funil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B3F3700-EA5A-BD4E-1A02-0DFBEB8D855F}"/>
              </a:ext>
            </a:extLst>
          </p:cNvPr>
          <p:cNvSpPr txBox="1"/>
          <p:nvPr/>
        </p:nvSpPr>
        <p:spPr>
          <a:xfrm>
            <a:off x="1164566" y="2379453"/>
            <a:ext cx="3565585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Assunto: </a:t>
            </a:r>
            <a:r>
              <a:rPr lang="pt-BR" sz="1600">
                <a:solidFill>
                  <a:srgbClr val="000000"/>
                </a:solidFill>
                <a:ea typeface="+mn-lt"/>
                <a:cs typeface="+mn-lt"/>
              </a:rPr>
              <a:t>Cartão </a:t>
            </a:r>
            <a:r>
              <a:rPr lang="pt-BR" sz="1600" err="1">
                <a:solidFill>
                  <a:srgbClr val="000000"/>
                </a:solidFill>
                <a:ea typeface="+mn-lt"/>
                <a:cs typeface="+mn-lt"/>
              </a:rPr>
              <a:t>Afinz</a:t>
            </a:r>
            <a:r>
              <a:rPr lang="pt-BR" sz="1600">
                <a:solidFill>
                  <a:srgbClr val="000000"/>
                </a:solidFill>
                <a:ea typeface="+mn-lt"/>
                <a:cs typeface="+mn-lt"/>
              </a:rPr>
              <a:t> com limite para usar na hora. Peça já!</a:t>
            </a:r>
            <a:endParaRPr lang="pt-BR" sz="1600" b="1">
              <a:ea typeface="Calibri"/>
              <a:cs typeface="Calibri"/>
            </a:endParaRPr>
          </a:p>
          <a:p>
            <a:endParaRPr lang="pt-BR" sz="1600">
              <a:ea typeface="Calibri"/>
              <a:cs typeface="Calibri"/>
            </a:endParaRPr>
          </a:p>
          <a:p>
            <a:r>
              <a:rPr lang="pt-BR" sz="1600" b="1" err="1">
                <a:ea typeface="Calibri"/>
                <a:cs typeface="Calibri"/>
              </a:rPr>
              <a:t>Pré</a:t>
            </a:r>
            <a:r>
              <a:rPr lang="pt-BR" sz="1600" b="1">
                <a:ea typeface="Calibri"/>
                <a:cs typeface="Calibri"/>
              </a:rPr>
              <a:t>-cabeçalho: </a:t>
            </a:r>
            <a:r>
              <a:rPr lang="pt-BR" sz="1600">
                <a:ea typeface="+mn-lt"/>
                <a:cs typeface="+mn-lt"/>
              </a:rPr>
              <a:t>Ganhe até R$100 em Créditos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 para suas compras. Aproveite!</a:t>
            </a:r>
          </a:p>
          <a:p>
            <a:endParaRPr lang="pt-BR" sz="1600">
              <a:ea typeface="+mn-lt"/>
              <a:cs typeface="+mn-lt"/>
            </a:endParaRPr>
          </a:p>
          <a:p>
            <a:r>
              <a:rPr lang="pt-BR" sz="1600" b="1">
                <a:ea typeface="+mn-lt"/>
                <a:cs typeface="+mn-lt"/>
              </a:rPr>
              <a:t>Caminho do e-mail no SF:</a:t>
            </a:r>
            <a:r>
              <a:rPr lang="pt-BR" sz="1600">
                <a:ea typeface="+mn-lt"/>
                <a:cs typeface="+mn-lt"/>
              </a:rPr>
              <a:t> </a:t>
            </a:r>
            <a:r>
              <a:rPr lang="pt-BR" sz="1600" err="1">
                <a:ea typeface="+mn-lt"/>
                <a:cs typeface="+mn-lt"/>
              </a:rPr>
              <a:t>Content</a:t>
            </a:r>
            <a:r>
              <a:rPr lang="pt-BR" sz="1600">
                <a:ea typeface="+mn-lt"/>
                <a:cs typeface="+mn-lt"/>
              </a:rPr>
              <a:t> </a:t>
            </a:r>
            <a:r>
              <a:rPr lang="pt-BR" sz="1600" err="1">
                <a:ea typeface="+mn-lt"/>
                <a:cs typeface="+mn-lt"/>
              </a:rPr>
              <a:t>Builder</a:t>
            </a:r>
            <a:r>
              <a:rPr lang="pt-BR" sz="1600">
                <a:ea typeface="+mn-lt"/>
                <a:cs typeface="+mn-lt"/>
              </a:rPr>
              <a:t>\2026\Lançamento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\AQUISIÇÃO - TOPO DE FUNIL\B2C\E-mail 4 - Classic +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 B2C</a:t>
            </a:r>
            <a:endParaRPr lang="pt-BR">
              <a:ea typeface="+mn-lt"/>
              <a:cs typeface="+mn-l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E2EA8C4-C338-65AB-4428-23219AF64F97}"/>
              </a:ext>
            </a:extLst>
          </p:cNvPr>
          <p:cNvSpPr txBox="1"/>
          <p:nvPr/>
        </p:nvSpPr>
        <p:spPr>
          <a:xfrm>
            <a:off x="1078301" y="5369943"/>
            <a:ext cx="3910641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Link do e-mail: </a:t>
            </a:r>
            <a:r>
              <a:rPr lang="pt-BR" sz="1050">
                <a:solidFill>
                  <a:srgbClr val="000000"/>
                </a:solidFill>
                <a:ea typeface="+mn-lt"/>
                <a:cs typeface="+mn-lt"/>
                <a:hlinkClick r:id="rId2"/>
              </a:rPr>
              <a:t>view.relacionamento.afinz.com.br/?vawpToken=BEJEVZ4KXIWEHIQ43ARK54VYEA.130022&amp;utm_source=sfmc&amp;utm_medium=email&amp;utm_campaign=E-mail+4+-+Classic+%2b+Vibe+B2C&amp;utm_term=https%3a%2f%2fview.relacionamento.afinz.com.br%2f%3fvawpToken%3d%%tokenized_vawp_metadata%%&amp;utm_id=623412&amp;sfmc_id=24367836</a:t>
            </a:r>
            <a:endParaRPr lang="pt-BR" sz="1100">
              <a:ea typeface="Calibri"/>
              <a:cs typeface="Calibr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7D8D8C-6405-BED3-F1F0-2A0F26435BF2}"/>
              </a:ext>
            </a:extLst>
          </p:cNvPr>
          <p:cNvSpPr txBox="1"/>
          <p:nvPr/>
        </p:nvSpPr>
        <p:spPr>
          <a:xfrm>
            <a:off x="9402792" y="2365076"/>
            <a:ext cx="227162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ea typeface="Calibri"/>
                <a:cs typeface="Calibri"/>
              </a:rPr>
              <a:t>Atualizado em 14/08/26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2CDC17-E356-A521-E8ED-374B1533BF93}"/>
              </a:ext>
            </a:extLst>
          </p:cNvPr>
          <p:cNvSpPr txBox="1"/>
          <p:nvPr/>
        </p:nvSpPr>
        <p:spPr>
          <a:xfrm>
            <a:off x="1164564" y="1847490"/>
            <a:ext cx="38675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>
                <a:solidFill>
                  <a:srgbClr val="000000"/>
                </a:solidFill>
                <a:latin typeface="Calibri"/>
              </a:rPr>
              <a:t>E-mail 4</a:t>
            </a:r>
            <a:endParaRPr lang="pt-BR" sz="2000">
              <a:ea typeface="Calibri"/>
              <a:cs typeface="Calibri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0B4FB42-30D4-A29A-71D3-E3BD362AA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357" y="1732741"/>
            <a:ext cx="2082380" cy="514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33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45F6E-7887-C591-FB43-5693A261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DA0083BA-A67A-E585-118B-98622ED2BDE5}"/>
              </a:ext>
            </a:extLst>
          </p:cNvPr>
          <p:cNvSpPr txBox="1"/>
          <p:nvPr/>
        </p:nvSpPr>
        <p:spPr>
          <a:xfrm>
            <a:off x="1034323" y="616807"/>
            <a:ext cx="5447981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1">
                <a:latin typeface="Lembra XBold"/>
              </a:rPr>
              <a:t>Régua de Aquisição - B2C</a:t>
            </a:r>
          </a:p>
          <a:p>
            <a:r>
              <a:rPr lang="pt-BR" sz="2400" b="1">
                <a:latin typeface="Lembra XBold"/>
                <a:ea typeface="Calibri"/>
                <a:cs typeface="Calibri"/>
              </a:rPr>
              <a:t>Topo de Funil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C64FB22-92AD-20E7-0466-C16A26530EA1}"/>
              </a:ext>
            </a:extLst>
          </p:cNvPr>
          <p:cNvSpPr txBox="1"/>
          <p:nvPr/>
        </p:nvSpPr>
        <p:spPr>
          <a:xfrm>
            <a:off x="1164566" y="2379453"/>
            <a:ext cx="3565585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Assunto: </a:t>
            </a:r>
            <a:r>
              <a:rPr lang="pt-BR" sz="1600">
                <a:solidFill>
                  <a:srgbClr val="000000"/>
                </a:solidFill>
                <a:ea typeface="+mn-lt"/>
                <a:cs typeface="+mn-lt"/>
              </a:rPr>
              <a:t>Economize todo mês com seus Créditos </a:t>
            </a:r>
            <a:r>
              <a:rPr lang="pt-BR" sz="1600" err="1">
                <a:solidFill>
                  <a:srgbClr val="000000"/>
                </a:solidFill>
                <a:ea typeface="+mn-lt"/>
                <a:cs typeface="+mn-lt"/>
              </a:rPr>
              <a:t>Vibe</a:t>
            </a:r>
            <a:r>
              <a:rPr lang="pt-BR" sz="1600">
                <a:solidFill>
                  <a:srgbClr val="000000"/>
                </a:solidFill>
                <a:ea typeface="+mn-lt"/>
                <a:cs typeface="+mn-lt"/>
              </a:rPr>
              <a:t>!</a:t>
            </a:r>
            <a:endParaRPr lang="pt-BR" sz="1600" err="1">
              <a:ea typeface="Calibri"/>
              <a:cs typeface="Calibri"/>
            </a:endParaRPr>
          </a:p>
          <a:p>
            <a:endParaRPr lang="pt-BR" sz="1600">
              <a:ea typeface="Calibri"/>
              <a:cs typeface="Calibri"/>
            </a:endParaRPr>
          </a:p>
          <a:p>
            <a:r>
              <a:rPr lang="pt-BR" sz="1600" b="1" err="1">
                <a:ea typeface="Calibri"/>
                <a:cs typeface="Calibri"/>
              </a:rPr>
              <a:t>Pré</a:t>
            </a:r>
            <a:r>
              <a:rPr lang="pt-BR" sz="1600" b="1">
                <a:ea typeface="Calibri"/>
                <a:cs typeface="Calibri"/>
              </a:rPr>
              <a:t>-cabeçalho: </a:t>
            </a:r>
            <a:r>
              <a:rPr lang="pt-BR" sz="1600">
                <a:ea typeface="+mn-lt"/>
                <a:cs typeface="+mn-lt"/>
              </a:rPr>
              <a:t>Peça seu cartão </a:t>
            </a:r>
            <a:r>
              <a:rPr lang="pt-BR" sz="1600" err="1">
                <a:ea typeface="+mn-lt"/>
                <a:cs typeface="+mn-lt"/>
              </a:rPr>
              <a:t>Afinz</a:t>
            </a:r>
            <a:r>
              <a:rPr lang="pt-BR" sz="1600">
                <a:ea typeface="+mn-lt"/>
                <a:cs typeface="+mn-lt"/>
              </a:rPr>
              <a:t> e concorra a R$100 MIL todo mês.</a:t>
            </a:r>
          </a:p>
          <a:p>
            <a:endParaRPr lang="pt-BR" sz="1600">
              <a:ea typeface="+mn-lt"/>
              <a:cs typeface="+mn-lt"/>
            </a:endParaRPr>
          </a:p>
          <a:p>
            <a:r>
              <a:rPr lang="pt-BR" sz="1600" b="1">
                <a:ea typeface="+mn-lt"/>
                <a:cs typeface="+mn-lt"/>
              </a:rPr>
              <a:t>Caminho do e-mail no SF:</a:t>
            </a:r>
            <a:r>
              <a:rPr lang="pt-BR" sz="1600">
                <a:ea typeface="+mn-lt"/>
                <a:cs typeface="+mn-lt"/>
              </a:rPr>
              <a:t> </a:t>
            </a:r>
            <a:r>
              <a:rPr lang="pt-BR" sz="1600" err="1">
                <a:ea typeface="+mn-lt"/>
                <a:cs typeface="+mn-lt"/>
              </a:rPr>
              <a:t>Content</a:t>
            </a:r>
            <a:r>
              <a:rPr lang="pt-BR" sz="1600">
                <a:ea typeface="+mn-lt"/>
                <a:cs typeface="+mn-lt"/>
              </a:rPr>
              <a:t> </a:t>
            </a:r>
            <a:r>
              <a:rPr lang="pt-BR" sz="1600" err="1">
                <a:ea typeface="+mn-lt"/>
                <a:cs typeface="+mn-lt"/>
              </a:rPr>
              <a:t>Builder</a:t>
            </a:r>
            <a:r>
              <a:rPr lang="pt-BR" sz="1600">
                <a:ea typeface="+mn-lt"/>
                <a:cs typeface="+mn-lt"/>
              </a:rPr>
              <a:t>\2026\Lançamento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\AQUISIÇÃO - TOPO DE FUNIL\B2C\E-mail 5 - Classic + Vibe B2C</a:t>
            </a:r>
            <a:endParaRPr lang="pt-BR">
              <a:ea typeface="+mn-lt"/>
              <a:cs typeface="+mn-l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CD35C8-EE35-6C00-FCAE-04AB0519E52A}"/>
              </a:ext>
            </a:extLst>
          </p:cNvPr>
          <p:cNvSpPr txBox="1"/>
          <p:nvPr/>
        </p:nvSpPr>
        <p:spPr>
          <a:xfrm>
            <a:off x="1078301" y="5369943"/>
            <a:ext cx="391064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Link do e-mail:</a:t>
            </a:r>
            <a:r>
              <a:rPr lang="pt-BR" sz="16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pt-BR" sz="1050">
                <a:solidFill>
                  <a:srgbClr val="000000"/>
                </a:solidFill>
                <a:ea typeface="+mn-lt"/>
                <a:cs typeface="+mn-lt"/>
                <a:hlinkClick r:id="rId2"/>
              </a:rPr>
              <a:t>https://click.relacionamento.afinz.com.br/?qs=ABp7ImQiOjQ5NjgsInQiOjU1NzgsInMiOjEzfQANAAAAAADtfu2y5LsmBGMPWvIG_ic8-huIjSDvxJLN05H39AZX6mdJ9KF1KxfhlW-a3KjV8Cqm6nm0iz25FQL_3egPn_SpGzXi7UkIfhkD</a:t>
            </a:r>
            <a:r>
              <a:rPr lang="pt-BR" sz="105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pt-BR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D43CB9-556B-D2C9-E576-6DBD765E25EC}"/>
              </a:ext>
            </a:extLst>
          </p:cNvPr>
          <p:cNvSpPr txBox="1"/>
          <p:nvPr/>
        </p:nvSpPr>
        <p:spPr>
          <a:xfrm>
            <a:off x="9402792" y="2365076"/>
            <a:ext cx="227162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ea typeface="Calibri"/>
                <a:cs typeface="Calibri"/>
              </a:rPr>
              <a:t>Atualizado em 14/08/26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AB5F856-4776-2CE4-28C8-9CC65899EA6B}"/>
              </a:ext>
            </a:extLst>
          </p:cNvPr>
          <p:cNvSpPr txBox="1"/>
          <p:nvPr/>
        </p:nvSpPr>
        <p:spPr>
          <a:xfrm>
            <a:off x="1164564" y="1847490"/>
            <a:ext cx="38675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>
                <a:solidFill>
                  <a:srgbClr val="000000"/>
                </a:solidFill>
                <a:latin typeface="Calibri"/>
              </a:rPr>
              <a:t>E-mail 5</a:t>
            </a:r>
            <a:endParaRPr lang="pt-BR" sz="2000">
              <a:ea typeface="Calibri"/>
              <a:cs typeface="Calibri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F9AEEF0-C1C9-9546-AE3A-6933E7FE5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608" y="1713062"/>
            <a:ext cx="2426180" cy="514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32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737EB-994A-F02C-9D9B-BBA40F88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45EE4F2B-1585-F80B-DD58-C21D17BF5C50}"/>
              </a:ext>
            </a:extLst>
          </p:cNvPr>
          <p:cNvSpPr txBox="1"/>
          <p:nvPr/>
        </p:nvSpPr>
        <p:spPr>
          <a:xfrm>
            <a:off x="1034323" y="616807"/>
            <a:ext cx="5447981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1">
                <a:latin typeface="Lembra XBold"/>
              </a:rPr>
              <a:t>Régua de Aquisição - B2C</a:t>
            </a:r>
          </a:p>
          <a:p>
            <a:r>
              <a:rPr lang="pt-BR" sz="2400" b="1">
                <a:latin typeface="Lembra XBold"/>
                <a:ea typeface="Calibri"/>
                <a:cs typeface="Calibri"/>
              </a:rPr>
              <a:t>Topo de Funil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8F7336-1E5E-0441-BD03-862FD99CB7B5}"/>
              </a:ext>
            </a:extLst>
          </p:cNvPr>
          <p:cNvSpPr txBox="1"/>
          <p:nvPr/>
        </p:nvSpPr>
        <p:spPr>
          <a:xfrm>
            <a:off x="1164566" y="2379453"/>
            <a:ext cx="3565585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Assunto: </a:t>
            </a:r>
            <a:r>
              <a:rPr lang="pt-BR" sz="1600">
                <a:ea typeface="+mn-lt"/>
                <a:cs typeface="+mn-lt"/>
              </a:rPr>
              <a:t>Quer concorrer a R$100 MIL todo mês? Peça seu Cartão </a:t>
            </a:r>
            <a:r>
              <a:rPr lang="pt-BR" sz="1600" err="1">
                <a:ea typeface="+mn-lt"/>
                <a:cs typeface="+mn-lt"/>
              </a:rPr>
              <a:t>Afinz</a:t>
            </a:r>
            <a:r>
              <a:rPr lang="pt-BR" sz="1600">
                <a:ea typeface="+mn-lt"/>
                <a:cs typeface="+mn-lt"/>
              </a:rPr>
              <a:t>!</a:t>
            </a:r>
            <a:endParaRPr lang="pt-BR" sz="1600" err="1">
              <a:ea typeface="+mn-lt"/>
              <a:cs typeface="+mn-lt"/>
            </a:endParaRPr>
          </a:p>
          <a:p>
            <a:endParaRPr lang="pt-BR" sz="1600">
              <a:ea typeface="+mn-lt"/>
              <a:cs typeface="+mn-lt"/>
            </a:endParaRPr>
          </a:p>
          <a:p>
            <a:r>
              <a:rPr lang="pt-BR" sz="1600" b="1" err="1">
                <a:ea typeface="+mn-lt"/>
                <a:cs typeface="+mn-lt"/>
              </a:rPr>
              <a:t>Pré</a:t>
            </a:r>
            <a:r>
              <a:rPr lang="pt-BR" sz="1600" b="1">
                <a:ea typeface="+mn-lt"/>
                <a:cs typeface="+mn-lt"/>
              </a:rPr>
              <a:t>-cabeçalho: </a:t>
            </a:r>
            <a:r>
              <a:rPr lang="pt-BR" sz="1600">
                <a:ea typeface="+mn-lt"/>
                <a:cs typeface="+mn-lt"/>
              </a:rPr>
              <a:t>Ganhe R$100 em Créditos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 na 1ª compra e aproveite nas melhores marcas.</a:t>
            </a:r>
          </a:p>
          <a:p>
            <a:endParaRPr lang="pt-BR" sz="1600">
              <a:ea typeface="+mn-lt"/>
              <a:cs typeface="+mn-lt"/>
            </a:endParaRPr>
          </a:p>
          <a:p>
            <a:r>
              <a:rPr lang="pt-BR" sz="1600" b="1">
                <a:ea typeface="+mn-lt"/>
                <a:cs typeface="+mn-lt"/>
              </a:rPr>
              <a:t>Caminho do e-mail no SF:</a:t>
            </a:r>
            <a:r>
              <a:rPr lang="pt-BR" sz="1600">
                <a:ea typeface="+mn-lt"/>
                <a:cs typeface="+mn-lt"/>
              </a:rPr>
              <a:t> </a:t>
            </a:r>
            <a:r>
              <a:rPr lang="pt-BR" sz="1600" err="1">
                <a:ea typeface="+mn-lt"/>
                <a:cs typeface="+mn-lt"/>
              </a:rPr>
              <a:t>Content</a:t>
            </a:r>
            <a:r>
              <a:rPr lang="pt-BR" sz="1600">
                <a:ea typeface="+mn-lt"/>
                <a:cs typeface="+mn-lt"/>
              </a:rPr>
              <a:t> </a:t>
            </a:r>
            <a:r>
              <a:rPr lang="pt-BR" sz="1600" err="1">
                <a:ea typeface="+mn-lt"/>
                <a:cs typeface="+mn-lt"/>
              </a:rPr>
              <a:t>Builder</a:t>
            </a:r>
            <a:r>
              <a:rPr lang="pt-BR" sz="1600">
                <a:ea typeface="+mn-lt"/>
                <a:cs typeface="+mn-lt"/>
              </a:rPr>
              <a:t>\2026\Lançamento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\AQUISIÇÃO - TOPO DE FUNIL\B2C\E-mail 6 - Classic + Vibe B2C</a:t>
            </a:r>
            <a:endParaRPr lang="pt-BR">
              <a:ea typeface="+mn-lt"/>
              <a:cs typeface="+mn-l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A648AD8-C0F6-B2A5-7D91-94BCD0964DD8}"/>
              </a:ext>
            </a:extLst>
          </p:cNvPr>
          <p:cNvSpPr txBox="1"/>
          <p:nvPr/>
        </p:nvSpPr>
        <p:spPr>
          <a:xfrm>
            <a:off x="1078301" y="5369943"/>
            <a:ext cx="3910641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Link do e-mail: </a:t>
            </a:r>
            <a:r>
              <a:rPr lang="pt-BR" sz="1050">
                <a:solidFill>
                  <a:srgbClr val="000000"/>
                </a:solidFill>
                <a:ea typeface="+mn-lt"/>
                <a:cs typeface="+mn-lt"/>
                <a:hlinkClick r:id="rId2"/>
              </a:rPr>
              <a:t>view.relacionamento.afinz.com.br/?vawpToken=Y2KPO7JNGOJUBOPN5VWWXABP4A.130024&amp;utm_source=sfmc&amp;utm_medium=email&amp;utm_campaign=E-mail+6+-+Classic+%2b+Vibe+B2C&amp;utm_term=https%3a%2f%2fview.relacionamento.afinz.com.br%2f%3fvawpToken%3d%%tokenized_vawp_metadata%%&amp;utm_id=623485&amp;sfmc_id=24951043</a:t>
            </a:r>
            <a:endParaRPr lang="pt-BR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A614A7-48DA-C3FB-4E70-3BA593096F1E}"/>
              </a:ext>
            </a:extLst>
          </p:cNvPr>
          <p:cNvSpPr txBox="1"/>
          <p:nvPr/>
        </p:nvSpPr>
        <p:spPr>
          <a:xfrm>
            <a:off x="9402792" y="2365076"/>
            <a:ext cx="227162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ea typeface="Calibri"/>
                <a:cs typeface="Calibri"/>
              </a:rPr>
              <a:t>Atualizado em 14/08/26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4F26F15-3081-6DC2-5D17-08AF307B685D}"/>
              </a:ext>
            </a:extLst>
          </p:cNvPr>
          <p:cNvSpPr txBox="1"/>
          <p:nvPr/>
        </p:nvSpPr>
        <p:spPr>
          <a:xfrm>
            <a:off x="1164564" y="1847490"/>
            <a:ext cx="38675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>
                <a:solidFill>
                  <a:srgbClr val="000000"/>
                </a:solidFill>
                <a:latin typeface="Calibri"/>
              </a:rPr>
              <a:t>E-mail 6</a:t>
            </a:r>
            <a:endParaRPr lang="pt-BR" sz="2000">
              <a:ea typeface="Calibri"/>
              <a:cs typeface="Calibri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6447FAB-018F-16FC-0728-EDAC9444E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594" y="1717825"/>
            <a:ext cx="2278811" cy="513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842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034A0-B356-66E8-FBEF-1FE6AA8E5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93AB3E77-E09C-3787-F25F-CA4DB3B698B0}"/>
              </a:ext>
            </a:extLst>
          </p:cNvPr>
          <p:cNvSpPr txBox="1"/>
          <p:nvPr/>
        </p:nvSpPr>
        <p:spPr>
          <a:xfrm>
            <a:off x="1034323" y="616807"/>
            <a:ext cx="5447981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1">
                <a:latin typeface="Lembra XBold"/>
              </a:rPr>
              <a:t>Régua de Aquisição - B2C</a:t>
            </a:r>
          </a:p>
          <a:p>
            <a:r>
              <a:rPr lang="pt-BR" sz="2400" b="1">
                <a:latin typeface="Lembra XBold"/>
                <a:ea typeface="Calibri"/>
                <a:cs typeface="Calibri"/>
              </a:rPr>
              <a:t>Topo de Funil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1D6784D-DC50-2DA1-D6D7-24E02A6E083F}"/>
              </a:ext>
            </a:extLst>
          </p:cNvPr>
          <p:cNvSpPr txBox="1"/>
          <p:nvPr/>
        </p:nvSpPr>
        <p:spPr>
          <a:xfrm>
            <a:off x="1164566" y="2379453"/>
            <a:ext cx="3565585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Assunto: </a:t>
            </a:r>
            <a:r>
              <a:rPr lang="pt-BR" sz="1600">
                <a:ea typeface="+mn-lt"/>
                <a:cs typeface="+mn-lt"/>
              </a:rPr>
              <a:t>Não perca seu cartão </a:t>
            </a:r>
            <a:r>
              <a:rPr lang="pt-BR" sz="1600" err="1">
                <a:ea typeface="+mn-lt"/>
                <a:cs typeface="+mn-lt"/>
              </a:rPr>
              <a:t>Afinz</a:t>
            </a:r>
            <a:r>
              <a:rPr lang="pt-BR" sz="1600">
                <a:ea typeface="+mn-lt"/>
                <a:cs typeface="+mn-lt"/>
              </a:rPr>
              <a:t> com Créditos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 exclusivos!</a:t>
            </a:r>
          </a:p>
          <a:p>
            <a:endParaRPr lang="pt-BR" sz="1600">
              <a:ea typeface="+mn-lt"/>
              <a:cs typeface="+mn-lt"/>
            </a:endParaRPr>
          </a:p>
          <a:p>
            <a:r>
              <a:rPr lang="pt-BR" sz="1600" b="1" err="1">
                <a:ea typeface="+mn-lt"/>
                <a:cs typeface="+mn-lt"/>
              </a:rPr>
              <a:t>Pré</a:t>
            </a:r>
            <a:r>
              <a:rPr lang="pt-BR" sz="1600" b="1">
                <a:ea typeface="+mn-lt"/>
                <a:cs typeface="+mn-lt"/>
              </a:rPr>
              <a:t>-cabeçalho: </a:t>
            </a:r>
            <a:r>
              <a:rPr lang="pt-BR" sz="1600">
                <a:ea typeface="+mn-lt"/>
                <a:cs typeface="+mn-lt"/>
              </a:rPr>
              <a:t>Ganhe R$100 em Créditos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 para economizar nas melhores marcas.</a:t>
            </a:r>
          </a:p>
          <a:p>
            <a:endParaRPr lang="pt-BR" sz="1600">
              <a:ea typeface="+mn-lt"/>
              <a:cs typeface="+mn-lt"/>
            </a:endParaRPr>
          </a:p>
          <a:p>
            <a:r>
              <a:rPr lang="pt-BR" sz="1600" b="1">
                <a:ea typeface="+mn-lt"/>
                <a:cs typeface="+mn-lt"/>
              </a:rPr>
              <a:t>Caminho do e-mail no SF:</a:t>
            </a:r>
            <a:r>
              <a:rPr lang="pt-BR" sz="1600">
                <a:ea typeface="+mn-lt"/>
                <a:cs typeface="+mn-lt"/>
              </a:rPr>
              <a:t> </a:t>
            </a:r>
            <a:r>
              <a:rPr lang="pt-BR" sz="1600" err="1">
                <a:ea typeface="+mn-lt"/>
                <a:cs typeface="+mn-lt"/>
              </a:rPr>
              <a:t>Content</a:t>
            </a:r>
            <a:r>
              <a:rPr lang="pt-BR" sz="1600">
                <a:ea typeface="+mn-lt"/>
                <a:cs typeface="+mn-lt"/>
              </a:rPr>
              <a:t> </a:t>
            </a:r>
            <a:r>
              <a:rPr lang="pt-BR" sz="1600" err="1">
                <a:ea typeface="+mn-lt"/>
                <a:cs typeface="+mn-lt"/>
              </a:rPr>
              <a:t>Builder</a:t>
            </a:r>
            <a:r>
              <a:rPr lang="pt-BR" sz="1600">
                <a:ea typeface="+mn-lt"/>
                <a:cs typeface="+mn-lt"/>
              </a:rPr>
              <a:t>\2026\Lançamento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\AQUISIÇÃO - TOPO DE FUNIL\B2C\E-mail 7 - Classic + Vibe B2C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F45C397-7D4B-6581-393D-596AE854574C}"/>
              </a:ext>
            </a:extLst>
          </p:cNvPr>
          <p:cNvSpPr txBox="1"/>
          <p:nvPr/>
        </p:nvSpPr>
        <p:spPr>
          <a:xfrm>
            <a:off x="1078301" y="5369943"/>
            <a:ext cx="3910641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Link do e-mail: </a:t>
            </a:r>
            <a:r>
              <a:rPr lang="pt-BR" sz="1050">
                <a:solidFill>
                  <a:srgbClr val="000000"/>
                </a:solidFill>
                <a:ea typeface="+mn-lt"/>
                <a:cs typeface="+mn-lt"/>
                <a:hlinkClick r:id="rId2"/>
              </a:rPr>
              <a:t>view.relacionamento.afinz.com.br/?vawpToken=T4WWGWDDRHJUNAXOHM3SYNORZM.130021&amp;utm_source=sfmc&amp;utm_medium=email&amp;utm_campaign=E-mail+7+-+Classic+%2b+Vibe+B2C&amp;utm_term=https%3a%2f%2fview.relacionamento.afinz.com.br%2f%3fvawpToken%3d%%tokenized_vawp_metadata%%&amp;utm_id=623298&amp;sfmc_id=24367836</a:t>
            </a:r>
            <a:endParaRPr lang="pt-BR" sz="140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13A0904-B97A-CC6E-5936-E0899E7605EE}"/>
              </a:ext>
            </a:extLst>
          </p:cNvPr>
          <p:cNvSpPr txBox="1"/>
          <p:nvPr/>
        </p:nvSpPr>
        <p:spPr>
          <a:xfrm>
            <a:off x="9402792" y="2365076"/>
            <a:ext cx="227162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ea typeface="Calibri"/>
                <a:cs typeface="Calibri"/>
              </a:rPr>
              <a:t>Atualizado em 14/08/26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073116-8137-E37B-6993-052DC387C37E}"/>
              </a:ext>
            </a:extLst>
          </p:cNvPr>
          <p:cNvSpPr txBox="1"/>
          <p:nvPr/>
        </p:nvSpPr>
        <p:spPr>
          <a:xfrm>
            <a:off x="1164564" y="1847490"/>
            <a:ext cx="38675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>
                <a:solidFill>
                  <a:srgbClr val="000000"/>
                </a:solidFill>
                <a:latin typeface="Calibri"/>
              </a:rPr>
              <a:t>E-mail 7</a:t>
            </a:r>
            <a:endParaRPr lang="pt-BR" sz="2000">
              <a:ea typeface="Calibri"/>
              <a:cs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CAA5B61-7B85-DFF0-40EC-8EBFB8DC0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436" y="1709199"/>
            <a:ext cx="2043921" cy="515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4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43DA6-A986-4514-9C3B-6C23DE5C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B2A21A7E-E6FB-17D3-EF2D-98BC74DF1A5A}"/>
              </a:ext>
            </a:extLst>
          </p:cNvPr>
          <p:cNvSpPr txBox="1"/>
          <p:nvPr/>
        </p:nvSpPr>
        <p:spPr>
          <a:xfrm>
            <a:off x="1034323" y="616807"/>
            <a:ext cx="5447981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1">
                <a:latin typeface="Lembra XBold"/>
              </a:rPr>
              <a:t>Régua de Aquisição - B2C</a:t>
            </a:r>
          </a:p>
          <a:p>
            <a:r>
              <a:rPr lang="pt-BR" sz="2400" b="1">
                <a:latin typeface="Lembra XBold"/>
                <a:ea typeface="Calibri"/>
                <a:cs typeface="Calibri"/>
              </a:rPr>
              <a:t>Topo de Funil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76C3844-128A-6973-5A42-3B15603FE491}"/>
              </a:ext>
            </a:extLst>
          </p:cNvPr>
          <p:cNvSpPr txBox="1"/>
          <p:nvPr/>
        </p:nvSpPr>
        <p:spPr>
          <a:xfrm>
            <a:off x="1164566" y="2379453"/>
            <a:ext cx="3565585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Assunto: </a:t>
            </a:r>
            <a:r>
              <a:rPr lang="pt-BR" sz="1600">
                <a:ea typeface="+mn-lt"/>
                <a:cs typeface="+mn-lt"/>
              </a:rPr>
              <a:t>ÚLTIMA CHANCE: ganhe até R$100 Créditos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! </a:t>
            </a:r>
            <a:endParaRPr lang="pt-BR" sz="1600" err="1">
              <a:ea typeface="+mn-lt"/>
              <a:cs typeface="+mn-lt"/>
            </a:endParaRPr>
          </a:p>
          <a:p>
            <a:endParaRPr lang="pt-BR" sz="1600">
              <a:ea typeface="+mn-lt"/>
              <a:cs typeface="+mn-lt"/>
            </a:endParaRPr>
          </a:p>
          <a:p>
            <a:r>
              <a:rPr lang="pt-BR" sz="1600" b="1" err="1">
                <a:ea typeface="+mn-lt"/>
                <a:cs typeface="+mn-lt"/>
              </a:rPr>
              <a:t>Pré</a:t>
            </a:r>
            <a:r>
              <a:rPr lang="pt-BR" sz="1600" b="1">
                <a:ea typeface="+mn-lt"/>
                <a:cs typeface="+mn-lt"/>
              </a:rPr>
              <a:t>-cabeçalho: </a:t>
            </a:r>
            <a:r>
              <a:rPr lang="pt-BR" sz="1600">
                <a:solidFill>
                  <a:srgbClr val="000000"/>
                </a:solidFill>
                <a:ea typeface="+mn-lt"/>
                <a:cs typeface="+mn-lt"/>
              </a:rPr>
              <a:t>Concorra R$100 MIL todo mês e economize em +250 marcas. Aproveite!</a:t>
            </a:r>
          </a:p>
          <a:p>
            <a:endParaRPr lang="pt-BR" sz="1600">
              <a:ea typeface="+mn-lt"/>
              <a:cs typeface="+mn-lt"/>
            </a:endParaRPr>
          </a:p>
          <a:p>
            <a:r>
              <a:rPr lang="pt-BR" sz="1600" b="1">
                <a:ea typeface="+mn-lt"/>
                <a:cs typeface="+mn-lt"/>
              </a:rPr>
              <a:t>Caminho do e-mail no SF:</a:t>
            </a:r>
            <a:r>
              <a:rPr lang="pt-BR" sz="1600">
                <a:ea typeface="+mn-lt"/>
                <a:cs typeface="+mn-lt"/>
              </a:rPr>
              <a:t> </a:t>
            </a:r>
            <a:r>
              <a:rPr lang="pt-BR" sz="1600" err="1">
                <a:ea typeface="+mn-lt"/>
                <a:cs typeface="+mn-lt"/>
              </a:rPr>
              <a:t>Content</a:t>
            </a:r>
            <a:r>
              <a:rPr lang="pt-BR" sz="1600">
                <a:ea typeface="+mn-lt"/>
                <a:cs typeface="+mn-lt"/>
              </a:rPr>
              <a:t> </a:t>
            </a:r>
            <a:r>
              <a:rPr lang="pt-BR" sz="1600" err="1">
                <a:ea typeface="+mn-lt"/>
                <a:cs typeface="+mn-lt"/>
              </a:rPr>
              <a:t>Builder</a:t>
            </a:r>
            <a:r>
              <a:rPr lang="pt-BR" sz="1600">
                <a:ea typeface="+mn-lt"/>
                <a:cs typeface="+mn-lt"/>
              </a:rPr>
              <a:t>\2026\Lançamento </a:t>
            </a:r>
            <a:r>
              <a:rPr lang="pt-BR" sz="1600" err="1">
                <a:ea typeface="+mn-lt"/>
                <a:cs typeface="+mn-lt"/>
              </a:rPr>
              <a:t>Vibe</a:t>
            </a:r>
            <a:r>
              <a:rPr lang="pt-BR" sz="1600">
                <a:ea typeface="+mn-lt"/>
                <a:cs typeface="+mn-lt"/>
              </a:rPr>
              <a:t>\AQUISIÇÃO - TOPO DE FUNIL\B2C\E-mail 8 - Classic + Vibe B2C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38226C2-73D8-4294-2A05-8DF3A6D38B94}"/>
              </a:ext>
            </a:extLst>
          </p:cNvPr>
          <p:cNvSpPr txBox="1"/>
          <p:nvPr/>
        </p:nvSpPr>
        <p:spPr>
          <a:xfrm>
            <a:off x="1078301" y="5369943"/>
            <a:ext cx="3910641" cy="13080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Calibri"/>
              </a:rPr>
              <a:t>Link do e-mail: </a:t>
            </a:r>
            <a:r>
              <a:rPr lang="pt-BR" sz="1050">
                <a:solidFill>
                  <a:srgbClr val="000000"/>
                </a:solidFill>
                <a:ea typeface="+mn-lt"/>
                <a:cs typeface="+mn-lt"/>
                <a:hlinkClick r:id="rId2"/>
              </a:rPr>
              <a:t>view.relacionamento.afinz.com.br/?vawpToken=HVCS5WALL4EEJIKMOSMDEO6P6I.130021&amp;utm_source=sfmc&amp;utm_medium=email&amp;utm_campaign=E-mail+8+-+Classic+%2b+Vibe+B2C&amp;utm_term=https%3a%2f%2fview.relacionamento.afinz.com.br%2f%3fvawpToken%3d%%tokenized_vawp_metadata%%&amp;utm_id=623386&amp;sfmc_id=24367836</a:t>
            </a:r>
            <a:endParaRPr lang="pt-BR" sz="120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D621DF6-023A-7DAD-E4C7-A40C7EA4BC6B}"/>
              </a:ext>
            </a:extLst>
          </p:cNvPr>
          <p:cNvSpPr txBox="1"/>
          <p:nvPr/>
        </p:nvSpPr>
        <p:spPr>
          <a:xfrm>
            <a:off x="9402792" y="2365076"/>
            <a:ext cx="227162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ea typeface="Calibri"/>
                <a:cs typeface="Calibri"/>
              </a:rPr>
              <a:t>Atualizado em 14/08/26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0B3E914-6651-9654-39C2-3DA68F97F995}"/>
              </a:ext>
            </a:extLst>
          </p:cNvPr>
          <p:cNvSpPr txBox="1"/>
          <p:nvPr/>
        </p:nvSpPr>
        <p:spPr>
          <a:xfrm>
            <a:off x="1164564" y="1847490"/>
            <a:ext cx="38675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>
                <a:solidFill>
                  <a:srgbClr val="000000"/>
                </a:solidFill>
                <a:latin typeface="Calibri"/>
              </a:rPr>
              <a:t>E-mail 8</a:t>
            </a:r>
            <a:endParaRPr lang="pt-BR" sz="2000">
              <a:ea typeface="Calibri"/>
              <a:cs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DA83BEE-336D-B407-9519-B2D542EB2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447" y="1725462"/>
            <a:ext cx="1823409" cy="514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2837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3FF00"/>
        </a:solidFill>
        <a:ln w="14799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2E7E9FEF7DC5243B3466CC3D44DDB0C" ma:contentTypeVersion="18" ma:contentTypeDescription="Crie um novo documento." ma:contentTypeScope="" ma:versionID="e69c96bb621f9d150307e69ace9504dd">
  <xsd:schema xmlns:xsd="http://www.w3.org/2001/XMLSchema" xmlns:xs="http://www.w3.org/2001/XMLSchema" xmlns:p="http://schemas.microsoft.com/office/2006/metadata/properties" xmlns:ns1="http://schemas.microsoft.com/sharepoint/v3" xmlns:ns2="4f3aec22-b1a7-406d-938b-a8212fe66118" xmlns:ns3="4f037f62-b141-44f8-b9c4-ff3ba90dccf6" targetNamespace="http://schemas.microsoft.com/office/2006/metadata/properties" ma:root="true" ma:fieldsID="31f2390a7dd7883ed770046ecd45fb92" ns1:_="" ns2:_="" ns3:_="">
    <xsd:import namespace="http://schemas.microsoft.com/sharepoint/v3"/>
    <xsd:import namespace="4f3aec22-b1a7-406d-938b-a8212fe66118"/>
    <xsd:import namespace="4f037f62-b141-44f8-b9c4-ff3ba90dcc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3aec22-b1a7-406d-938b-a8212fe661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75df2c6e-1918-49e6-a504-9bdbfe06a2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037f62-b141-44f8-b9c4-ff3ba90dccf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7752d2a-c8ea-4de4-abf2-c7190d6cbf31}" ma:internalName="TaxCatchAll" ma:showField="CatchAllData" ma:web="4f037f62-b141-44f8-b9c4-ff3ba90dcc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f3aec22-b1a7-406d-938b-a8212fe66118">
      <Terms xmlns="http://schemas.microsoft.com/office/infopath/2007/PartnerControls"/>
    </lcf76f155ced4ddcb4097134ff3c332f>
    <TaxCatchAll xmlns="4f037f62-b141-44f8-b9c4-ff3ba90dccf6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A75088-54AF-4FC3-BD2D-AD9141837E9F}">
  <ds:schemaRefs>
    <ds:schemaRef ds:uri="4f037f62-b141-44f8-b9c4-ff3ba90dccf6"/>
    <ds:schemaRef ds:uri="4f3aec22-b1a7-406d-938b-a8212fe661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C4460A4-C5F2-4885-A0EA-E6559D772495}">
  <ds:schemaRefs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4f037f62-b141-44f8-b9c4-ff3ba90dccf6"/>
    <ds:schemaRef ds:uri="4f3aec22-b1a7-406d-938b-a8212fe66118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6FBA745-28A5-4E91-8CF7-E8805414BB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1248</Words>
  <Application>Microsoft Office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Lembra Light</vt:lpstr>
      <vt:lpstr>Lembra XBold</vt:lpstr>
      <vt:lpstr>Tahoma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Pedrão</dc:creator>
  <cp:lastModifiedBy>Pablo Prado De Castro</cp:lastModifiedBy>
  <cp:revision>4</cp:revision>
  <dcterms:created xsi:type="dcterms:W3CDTF">2023-05-30T16:19:51Z</dcterms:created>
  <dcterms:modified xsi:type="dcterms:W3CDTF">2026-08-17T14:27:34Z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0x01010072E7E9FEF7DC5243B3466CC3D44DDB0C</vt:lpwstr>
  </property>
  <property fmtid="{D5CDD505-2E9C-101B-9397-08002B2CF9AE}" pid="3" name="MediaServiceImageTags">
    <vt:lpwstr/>
  </property>
</Properties>
</file>